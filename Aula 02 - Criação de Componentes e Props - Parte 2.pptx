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notesMasterIdLst>
    <p:notesMasterId r:id="rId82"/>
  </p:notesMasterIdLst>
  <p:handoutMasterIdLst>
    <p:handoutMasterId r:id="rId83"/>
  </p:handoutMasterIdLst>
  <p:sldIdLst>
    <p:sldId id="256" r:id="rId2"/>
    <p:sldId id="283" r:id="rId3"/>
    <p:sldId id="267" r:id="rId4"/>
    <p:sldId id="268" r:id="rId5"/>
    <p:sldId id="341" r:id="rId6"/>
    <p:sldId id="342" r:id="rId7"/>
    <p:sldId id="352" r:id="rId8"/>
    <p:sldId id="269" r:id="rId9"/>
    <p:sldId id="270" r:id="rId10"/>
    <p:sldId id="353" r:id="rId11"/>
    <p:sldId id="271" r:id="rId12"/>
    <p:sldId id="272" r:id="rId13"/>
    <p:sldId id="343" r:id="rId14"/>
    <p:sldId id="354" r:id="rId15"/>
    <p:sldId id="273" r:id="rId16"/>
    <p:sldId id="344" r:id="rId17"/>
    <p:sldId id="345" r:id="rId18"/>
    <p:sldId id="346" r:id="rId19"/>
    <p:sldId id="274" r:id="rId20"/>
    <p:sldId id="275" r:id="rId21"/>
    <p:sldId id="277" r:id="rId22"/>
    <p:sldId id="351" r:id="rId23"/>
    <p:sldId id="276" r:id="rId24"/>
    <p:sldId id="278" r:id="rId25"/>
    <p:sldId id="347" r:id="rId26"/>
    <p:sldId id="348" r:id="rId27"/>
    <p:sldId id="279" r:id="rId28"/>
    <p:sldId id="280" r:id="rId29"/>
    <p:sldId id="349" r:id="rId30"/>
    <p:sldId id="284" r:id="rId31"/>
    <p:sldId id="350" r:id="rId32"/>
    <p:sldId id="355" r:id="rId33"/>
    <p:sldId id="281" r:id="rId34"/>
    <p:sldId id="356" r:id="rId35"/>
    <p:sldId id="282" r:id="rId36"/>
    <p:sldId id="285" r:id="rId37"/>
    <p:sldId id="286" r:id="rId38"/>
    <p:sldId id="357" r:id="rId39"/>
    <p:sldId id="287" r:id="rId40"/>
    <p:sldId id="288" r:id="rId41"/>
    <p:sldId id="289" r:id="rId42"/>
    <p:sldId id="290" r:id="rId43"/>
    <p:sldId id="291" r:id="rId44"/>
    <p:sldId id="295" r:id="rId45"/>
    <p:sldId id="293" r:id="rId46"/>
    <p:sldId id="300" r:id="rId47"/>
    <p:sldId id="296" r:id="rId48"/>
    <p:sldId id="358" r:id="rId49"/>
    <p:sldId id="297" r:id="rId50"/>
    <p:sldId id="359" r:id="rId51"/>
    <p:sldId id="298" r:id="rId52"/>
    <p:sldId id="360" r:id="rId53"/>
    <p:sldId id="299" r:id="rId54"/>
    <p:sldId id="301" r:id="rId55"/>
    <p:sldId id="302" r:id="rId56"/>
    <p:sldId id="361" r:id="rId57"/>
    <p:sldId id="303" r:id="rId58"/>
    <p:sldId id="305" r:id="rId59"/>
    <p:sldId id="326" r:id="rId60"/>
    <p:sldId id="306" r:id="rId61"/>
    <p:sldId id="327" r:id="rId62"/>
    <p:sldId id="307" r:id="rId63"/>
    <p:sldId id="328" r:id="rId64"/>
    <p:sldId id="330" r:id="rId65"/>
    <p:sldId id="321" r:id="rId66"/>
    <p:sldId id="335" r:id="rId67"/>
    <p:sldId id="336" r:id="rId68"/>
    <p:sldId id="331" r:id="rId69"/>
    <p:sldId id="323" r:id="rId70"/>
    <p:sldId id="324" r:id="rId71"/>
    <p:sldId id="332" r:id="rId72"/>
    <p:sldId id="325" r:id="rId73"/>
    <p:sldId id="319" r:id="rId74"/>
    <p:sldId id="333" r:id="rId75"/>
    <p:sldId id="315" r:id="rId76"/>
    <p:sldId id="318" r:id="rId77"/>
    <p:sldId id="334" r:id="rId78"/>
    <p:sldId id="316" r:id="rId79"/>
    <p:sldId id="317" r:id="rId80"/>
    <p:sldId id="329" r:id="rId8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006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72" y="4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173D99-D067-41B2-AE6C-277A67A29C02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DFB31F-E394-47A9-91B6-386705BA44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231411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AB6CA-B409-437D-9273-FF0DF7C26A26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4D40C0-9213-40D2-B064-FB4123F285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98249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7"/>
          <p:cNvSpPr>
            <a:spLocks noChangeArrowheads="1"/>
          </p:cNvSpPr>
          <p:nvPr/>
        </p:nvSpPr>
        <p:spPr bwMode="auto">
          <a:xfrm>
            <a:off x="118764" y="886665"/>
            <a:ext cx="3500718" cy="3322264"/>
          </a:xfrm>
          <a:prstGeom prst="ellipse">
            <a:avLst/>
          </a:prstGeom>
          <a:noFill/>
          <a:ln w="12700">
            <a:solidFill>
              <a:schemeClr val="accent3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pt-BR" sz="1800"/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hidden">
          <a:xfrm>
            <a:off x="0" y="1890713"/>
            <a:ext cx="12192000" cy="145577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pt-BR" sz="2400">
              <a:latin typeface="Times New Roman" pitchFamily="18" charset="0"/>
            </a:endParaRPr>
          </a:p>
        </p:txBody>
      </p:sp>
      <p:sp>
        <p:nvSpPr>
          <p:cNvPr id="8" name="Freeform 10"/>
          <p:cNvSpPr>
            <a:spLocks noChangeArrowheads="1"/>
          </p:cNvSpPr>
          <p:nvPr/>
        </p:nvSpPr>
        <p:spPr bwMode="auto">
          <a:xfrm>
            <a:off x="517195" y="1804686"/>
            <a:ext cx="271794" cy="1627826"/>
          </a:xfrm>
          <a:custGeom>
            <a:avLst/>
            <a:gdLst/>
            <a:ahLst/>
            <a:cxnLst>
              <a:cxn ang="0">
                <a:pos x="1000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1000" y="1000"/>
                </a:moveTo>
                <a:lnTo>
                  <a:pt x="0" y="1000"/>
                </a:ln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76200" cmpd="sng">
            <a:solidFill>
              <a:schemeClr val="accent3">
                <a:lumMod val="50000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pt-BR" sz="1800"/>
          </a:p>
        </p:txBody>
      </p:sp>
      <p:sp>
        <p:nvSpPr>
          <p:cNvPr id="9" name="Freeform 11"/>
          <p:cNvSpPr>
            <a:spLocks noChangeArrowheads="1"/>
          </p:cNvSpPr>
          <p:nvPr/>
        </p:nvSpPr>
        <p:spPr bwMode="auto">
          <a:xfrm>
            <a:off x="11565236" y="1848368"/>
            <a:ext cx="311430" cy="1540461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000" y="0"/>
              </a:cxn>
              <a:cxn ang="0">
                <a:pos x="1000" y="1000"/>
              </a:cxn>
              <a:cxn ang="0">
                <a:pos x="0" y="1000"/>
              </a:cxn>
            </a:cxnLst>
            <a:rect l="0" t="0" r="r" b="b"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1000"/>
                </a:lnTo>
                <a:lnTo>
                  <a:pt x="0" y="1000"/>
                </a:lnTo>
              </a:path>
            </a:pathLst>
          </a:custGeom>
          <a:noFill/>
          <a:ln w="76200" cap="flat" cmpd="sng">
            <a:solidFill>
              <a:schemeClr val="accent3">
                <a:lumMod val="50000"/>
              </a:schemeClr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pt-BR" sz="1800"/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4003084" y="3432512"/>
            <a:ext cx="7305891" cy="282037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pt-BR"/>
              <a:t>Clique para editar o estilo do subtítulo Mestre</a:t>
            </a:r>
            <a:endParaRPr lang="pt-BR" dirty="0"/>
          </a:p>
        </p:txBody>
      </p:sp>
      <p:sp>
        <p:nvSpPr>
          <p:cNvPr id="4814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517194" y="1771485"/>
            <a:ext cx="11359471" cy="16002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11" name="Retângulo 10"/>
          <p:cNvSpPr/>
          <p:nvPr/>
        </p:nvSpPr>
        <p:spPr>
          <a:xfrm>
            <a:off x="-10160" y="5971335"/>
            <a:ext cx="3619525" cy="918008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 eaLnBrk="1" hangingPunct="1">
              <a:lnSpc>
                <a:spcPct val="120000"/>
              </a:lnSpc>
            </a:pPr>
            <a:r>
              <a:rPr lang="pt-BR" sz="1800" b="1" dirty="0">
                <a:solidFill>
                  <a:schemeClr val="bg1"/>
                </a:solidFill>
              </a:rPr>
              <a:t>Guilherme Henrique de Souza</a:t>
            </a:r>
          </a:p>
          <a:p>
            <a:pPr algn="ctr" eaLnBrk="1" hangingPunct="1">
              <a:lnSpc>
                <a:spcPct val="120000"/>
              </a:lnSpc>
            </a:pPr>
            <a:r>
              <a:rPr lang="pt-BR" sz="1400" u="none" dirty="0">
                <a:solidFill>
                  <a:schemeClr val="bg1"/>
                </a:solidFill>
              </a:rPr>
              <a:t>guilherme.souza@etec.sp.gov.br 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u="none" dirty="0">
                <a:solidFill>
                  <a:schemeClr val="bg1"/>
                </a:solidFill>
              </a:rPr>
              <a:t>guilherme.souza183@fatec.sp.gov.br </a:t>
            </a:r>
          </a:p>
        </p:txBody>
      </p:sp>
    </p:spTree>
    <p:extLst>
      <p:ext uri="{BB962C8B-B14F-4D97-AF65-F5344CB8AC3E}">
        <p14:creationId xmlns:p14="http://schemas.microsoft.com/office/powerpoint/2010/main" val="40479140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10" name="Título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63349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conteúdo e sub-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CAC06848-F217-EFCC-38E2-6419F09CC3B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36526" y="1652613"/>
            <a:ext cx="11960224" cy="1223963"/>
          </a:xfrm>
        </p:spPr>
        <p:txBody>
          <a:bodyPr/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72253B16-5DF3-D472-BE1B-209B4E71B91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36526" y="3019475"/>
            <a:ext cx="11960224" cy="3552774"/>
          </a:xfrm>
        </p:spPr>
        <p:txBody>
          <a:bodyPr/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871013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conteúdo e sub-conteúdo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CAC06848-F217-EFCC-38E2-6419F09CC3B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36526" y="1652613"/>
            <a:ext cx="11960224" cy="676701"/>
          </a:xfrm>
        </p:spPr>
        <p:txBody>
          <a:bodyPr/>
          <a:lstStyle/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72253B16-5DF3-D472-BE1B-209B4E71B91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36526" y="2472213"/>
            <a:ext cx="10130218" cy="2242863"/>
          </a:xfrm>
        </p:spPr>
        <p:txBody>
          <a:bodyPr/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39A430-28FF-A27F-7C4E-5B3066DBEE8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36526" y="4876945"/>
            <a:ext cx="10130218" cy="1695303"/>
          </a:xfrm>
        </p:spPr>
        <p:txBody>
          <a:bodyPr/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026206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conteúdo e 2 sub-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CAC06848-F217-EFCC-38E2-6419F09CC3B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36526" y="1652613"/>
            <a:ext cx="11960224" cy="1223963"/>
          </a:xfrm>
        </p:spPr>
        <p:txBody>
          <a:bodyPr/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72253B16-5DF3-D472-BE1B-209B4E71B91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36526" y="3019475"/>
            <a:ext cx="5799053" cy="3552774"/>
          </a:xfrm>
        </p:spPr>
        <p:txBody>
          <a:bodyPr/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B5B77C-FEB9-FC0A-C357-5BF9F710EBC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256422" y="3019475"/>
            <a:ext cx="5840327" cy="3552774"/>
          </a:xfrm>
        </p:spPr>
        <p:txBody>
          <a:bodyPr/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46954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2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72253B16-5DF3-D472-BE1B-209B4E71B91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36526" y="1652613"/>
            <a:ext cx="5840327" cy="4919636"/>
          </a:xfrm>
        </p:spPr>
        <p:txBody>
          <a:bodyPr/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B5B77C-FEB9-FC0A-C357-5BF9F710EBC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256422" y="1652613"/>
            <a:ext cx="5840327" cy="4919636"/>
          </a:xfrm>
        </p:spPr>
        <p:txBody>
          <a:bodyPr/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427248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85711" y="1714487"/>
            <a:ext cx="5619789" cy="460387"/>
          </a:xfrm>
        </p:spPr>
        <p:txBody>
          <a:bodyPr anchor="b">
            <a:noAutofit/>
          </a:bodyPr>
          <a:lstStyle>
            <a:lvl1pPr marL="0" indent="0">
              <a:buNone/>
              <a:defRPr sz="32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286503" y="1714487"/>
            <a:ext cx="5619789" cy="46038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Espaço Reservado para Conteúdo 2"/>
          <p:cNvSpPr>
            <a:spLocks noGrp="1"/>
          </p:cNvSpPr>
          <p:nvPr>
            <p:ph sz="half" idx="10"/>
          </p:nvPr>
        </p:nvSpPr>
        <p:spPr>
          <a:xfrm>
            <a:off x="285710" y="2214554"/>
            <a:ext cx="5619789" cy="435771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11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86503" y="2214554"/>
            <a:ext cx="5619789" cy="435771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F9008BB4-1479-6179-B86A-A0D3B777F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26" y="285751"/>
            <a:ext cx="11674475" cy="12239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4405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rcici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85711" y="1714487"/>
            <a:ext cx="5619789" cy="460387"/>
          </a:xfrm>
          <a:ln>
            <a:solidFill>
              <a:schemeClr val="accent3">
                <a:lumMod val="50000"/>
              </a:schemeClr>
            </a:solidFill>
          </a:ln>
        </p:spPr>
        <p:txBody>
          <a:bodyPr anchor="b">
            <a:noAutofit/>
          </a:bodyPr>
          <a:lstStyle>
            <a:lvl1pPr marL="0" indent="0">
              <a:buNone/>
              <a:defRPr sz="32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286503" y="1714487"/>
            <a:ext cx="5619789" cy="460387"/>
          </a:xfrm>
          <a:ln>
            <a:solidFill>
              <a:schemeClr val="accent3">
                <a:lumMod val="50000"/>
              </a:schemeClr>
            </a:solidFill>
          </a:ln>
        </p:spPr>
        <p:txBody>
          <a:bodyPr anchor="b"/>
          <a:lstStyle>
            <a:lvl1pPr marL="0" indent="0">
              <a:buNone/>
              <a:defRPr sz="32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Espaço Reservado para Conteúdo 2"/>
          <p:cNvSpPr>
            <a:spLocks noGrp="1"/>
          </p:cNvSpPr>
          <p:nvPr>
            <p:ph sz="half" idx="10"/>
          </p:nvPr>
        </p:nvSpPr>
        <p:spPr>
          <a:xfrm>
            <a:off x="285710" y="2214554"/>
            <a:ext cx="5619789" cy="4357718"/>
          </a:xfrm>
          <a:ln>
            <a:solidFill>
              <a:schemeClr val="accent3">
                <a:lumMod val="50000"/>
              </a:schemeClr>
            </a:solidFill>
          </a:ln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11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86503" y="2214554"/>
            <a:ext cx="5619789" cy="4357718"/>
          </a:xfrm>
          <a:ln>
            <a:solidFill>
              <a:schemeClr val="accent3">
                <a:lumMod val="50000"/>
              </a:schemeClr>
            </a:solidFill>
          </a:ln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26B7887-D346-DE7A-6462-2970886C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26" y="285751"/>
            <a:ext cx="11674475" cy="12239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23684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045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6288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3"/>
          <p:cNvSpPr>
            <a:spLocks noChangeArrowheads="1"/>
          </p:cNvSpPr>
          <p:nvPr/>
        </p:nvSpPr>
        <p:spPr bwMode="auto">
          <a:xfrm>
            <a:off x="0" y="1377950"/>
            <a:ext cx="12192000" cy="122238"/>
          </a:xfrm>
          <a:prstGeom prst="rect">
            <a:avLst/>
          </a:prstGeom>
          <a:ln>
            <a:noFill/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pt-BR" sz="2400">
              <a:latin typeface="Times New Roman" pitchFamily="18" charset="0"/>
            </a:endParaRP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36526" y="285751"/>
            <a:ext cx="11674475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pt-BR" dirty="0"/>
              <a:t>Clique para editar o estilo do título mestre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6526" y="1652612"/>
            <a:ext cx="11960225" cy="4919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90000" rIns="91440" bIns="90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7113" name="Freeform 9"/>
          <p:cNvSpPr>
            <a:spLocks noChangeArrowheads="1"/>
          </p:cNvSpPr>
          <p:nvPr/>
        </p:nvSpPr>
        <p:spPr bwMode="auto">
          <a:xfrm>
            <a:off x="136526" y="442914"/>
            <a:ext cx="203200" cy="1066800"/>
          </a:xfrm>
          <a:custGeom>
            <a:avLst/>
            <a:gdLst/>
            <a:ahLst/>
            <a:cxnLst>
              <a:cxn ang="0">
                <a:pos x="1000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1000" y="1000"/>
                </a:moveTo>
                <a:lnTo>
                  <a:pt x="0" y="1000"/>
                </a:ln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76200" cmpd="sng">
            <a:solidFill>
              <a:schemeClr val="accent3">
                <a:lumMod val="50000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pt-BR" sz="1800"/>
          </a:p>
        </p:txBody>
      </p:sp>
      <p:sp>
        <p:nvSpPr>
          <p:cNvPr id="47114" name="Freeform 10"/>
          <p:cNvSpPr>
            <a:spLocks noChangeArrowheads="1"/>
          </p:cNvSpPr>
          <p:nvPr/>
        </p:nvSpPr>
        <p:spPr bwMode="auto">
          <a:xfrm>
            <a:off x="11893551" y="269875"/>
            <a:ext cx="203200" cy="1073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000" y="0"/>
              </a:cxn>
              <a:cxn ang="0">
                <a:pos x="1000" y="1000"/>
              </a:cxn>
              <a:cxn ang="0">
                <a:pos x="0" y="1000"/>
              </a:cxn>
            </a:cxnLst>
            <a:rect l="0" t="0" r="r" b="b"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1000"/>
                </a:lnTo>
                <a:lnTo>
                  <a:pt x="0" y="1000"/>
                </a:lnTo>
              </a:path>
            </a:pathLst>
          </a:custGeom>
          <a:noFill/>
          <a:ln w="76200" cap="flat" cmpd="sng">
            <a:solidFill>
              <a:schemeClr val="accent3">
                <a:lumMod val="50000"/>
              </a:schemeClr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pt-BR" sz="1800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0" y="6642848"/>
            <a:ext cx="12192000" cy="215156"/>
          </a:xfrm>
          <a:prstGeom prst="rect">
            <a:avLst/>
          </a:prstGeom>
          <a:solidFill>
            <a:schemeClr val="accent3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pt-BR" sz="1000" b="1" dirty="0">
                <a:solidFill>
                  <a:schemeClr val="bg1"/>
                </a:solidFill>
                <a:latin typeface="Times New Roman" pitchFamily="18" charset="0"/>
              </a:rPr>
              <a:t>Professor: Guilherme Henrique de Souza (guilherme.souza@etec.sp.gov.br ou guilherme.souza183@fatec.sp.gov.br )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0" y="1"/>
            <a:ext cx="4800000" cy="14285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defRPr/>
            </a:pPr>
            <a:r>
              <a:rPr lang="pt-BR" sz="1000" b="1" dirty="0">
                <a:solidFill>
                  <a:schemeClr val="bg2"/>
                </a:solidFill>
                <a:latin typeface="Times New Roman" pitchFamily="18" charset="0"/>
              </a:rPr>
              <a:t>Aula 02 - Criação de Componentes e </a:t>
            </a:r>
            <a:r>
              <a:rPr lang="pt-BR" sz="1000" b="1" dirty="0" err="1">
                <a:solidFill>
                  <a:schemeClr val="bg2"/>
                </a:solidFill>
                <a:latin typeface="Times New Roman" pitchFamily="18" charset="0"/>
              </a:rPr>
              <a:t>Props</a:t>
            </a:r>
            <a:endParaRPr lang="pt-BR" sz="1000" b="1" dirty="0">
              <a:solidFill>
                <a:schemeClr val="bg2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2651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8" r:id="rId3"/>
    <p:sldLayoutId id="2147483681" r:id="rId4"/>
    <p:sldLayoutId id="2147483679" r:id="rId5"/>
    <p:sldLayoutId id="2147483680" r:id="rId6"/>
    <p:sldLayoutId id="2147483674" r:id="rId7"/>
    <p:sldLayoutId id="2147483677" r:id="rId8"/>
    <p:sldLayoutId id="2147483675" r:id="rId9"/>
    <p:sldLayoutId id="2147483676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</a:defRPr>
      </a:lvl5pPr>
      <a:lvl6pPr marL="457189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377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566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754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447663" indent="-447663" algn="l" rtl="0" eaLnBrk="1" fontAlgn="base" hangingPunct="1">
        <a:spcBef>
          <a:spcPct val="20000"/>
        </a:spcBef>
        <a:spcAft>
          <a:spcPct val="0"/>
        </a:spcAft>
        <a:buClr>
          <a:schemeClr val="accent3">
            <a:lumMod val="50000"/>
          </a:schemeClr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888978" indent="-439728" algn="l" rtl="0" eaLnBrk="1" fontAlgn="base" hangingPunct="1">
        <a:spcBef>
          <a:spcPct val="20000"/>
        </a:spcBef>
        <a:spcAft>
          <a:spcPct val="0"/>
        </a:spcAft>
        <a:buClr>
          <a:schemeClr val="accent3">
            <a:lumMod val="50000"/>
          </a:schemeClr>
        </a:buClr>
        <a:buSzPct val="65000"/>
        <a:buFont typeface="Wingdings" pitchFamily="2" charset="2"/>
        <a:buChar char="¡"/>
        <a:defRPr sz="2800">
          <a:solidFill>
            <a:schemeClr val="tx1"/>
          </a:solidFill>
          <a:latin typeface="+mn-lt"/>
        </a:defRPr>
      </a:lvl2pPr>
      <a:lvl3pPr marL="1293781" indent="-403215" algn="l" rtl="0" eaLnBrk="1" fontAlgn="base" hangingPunct="1">
        <a:spcBef>
          <a:spcPct val="20000"/>
        </a:spcBef>
        <a:spcAft>
          <a:spcPct val="0"/>
        </a:spcAft>
        <a:buClr>
          <a:schemeClr val="accent3">
            <a:lumMod val="50000"/>
          </a:schemeClr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81121" indent="-385753" algn="l" rtl="0" eaLnBrk="1" fontAlgn="base" hangingPunct="1">
        <a:spcBef>
          <a:spcPct val="20000"/>
        </a:spcBef>
        <a:spcAft>
          <a:spcPct val="0"/>
        </a:spcAft>
        <a:buClr>
          <a:schemeClr val="accent3">
            <a:lumMod val="50000"/>
          </a:schemeClr>
        </a:buClr>
        <a:buSzPct val="75000"/>
        <a:buFont typeface="Wingdings" pitchFamily="2" charset="2"/>
        <a:buChar char="¡"/>
        <a:defRPr sz="2000">
          <a:solidFill>
            <a:schemeClr val="tx1"/>
          </a:solidFill>
          <a:latin typeface="+mn-lt"/>
        </a:defRPr>
      </a:lvl4pPr>
      <a:lvl5pPr marL="2070048" indent="-387341" algn="l" rtl="0" eaLnBrk="1" fontAlgn="base" hangingPunct="1">
        <a:spcBef>
          <a:spcPct val="20000"/>
        </a:spcBef>
        <a:spcAft>
          <a:spcPct val="0"/>
        </a:spcAft>
        <a:buClr>
          <a:schemeClr val="accent3">
            <a:lumMod val="50000"/>
          </a:schemeClr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27237" indent="-387341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84425" indent="-387341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41614" indent="-387341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98803" indent="-387341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tmp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tmp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tmp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9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tmp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5.pn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1">
            <a:extLst>
              <a:ext uri="{FF2B5EF4-FFF2-40B4-BE49-F238E27FC236}">
                <a16:creationId xmlns:a16="http://schemas.microsoft.com/office/drawing/2014/main" id="{FC30A7A1-880D-4EA6-76CF-A5C085733D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Parte 2</a:t>
            </a:r>
          </a:p>
        </p:txBody>
      </p:sp>
      <p:sp>
        <p:nvSpPr>
          <p:cNvPr id="22" name="Título 2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Aula 02 - Criação de Componentes e </a:t>
            </a:r>
            <a:r>
              <a:rPr lang="pt-BR" dirty="0" err="1"/>
              <a:t>Props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53816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C6F516-36A3-4A82-84A9-F800E2D7C9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Implementando o projeto Aula02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210A9DA-BA7E-4587-AA8C-03A0D1B4E7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0440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85A40A8-AD0C-48C0-9BE5-A85AFE6EE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012" y="567484"/>
            <a:ext cx="8048988" cy="5922841"/>
          </a:xfrm>
          <a:prstGeom prst="rect">
            <a:avLst/>
          </a:prstGeom>
        </p:spPr>
      </p:pic>
      <p:sp>
        <p:nvSpPr>
          <p:cNvPr id="4" name="Elipse 3">
            <a:extLst>
              <a:ext uri="{FF2B5EF4-FFF2-40B4-BE49-F238E27FC236}">
                <a16:creationId xmlns:a16="http://schemas.microsoft.com/office/drawing/2014/main" id="{40536B6F-42D0-400B-AE19-76716F051028}"/>
              </a:ext>
            </a:extLst>
          </p:cNvPr>
          <p:cNvSpPr/>
          <p:nvPr/>
        </p:nvSpPr>
        <p:spPr bwMode="auto">
          <a:xfrm>
            <a:off x="5200650" y="3188970"/>
            <a:ext cx="2868930" cy="1714500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400" dirty="0">
                <a:solidFill>
                  <a:schemeClr val="tx1"/>
                </a:solidFill>
                <a:latin typeface="Arial" charset="0"/>
              </a:rPr>
              <a:t>Expanda a pasta </a:t>
            </a:r>
            <a:r>
              <a:rPr lang="pt-BR" sz="2400" b="1" dirty="0">
                <a:solidFill>
                  <a:schemeClr val="tx1"/>
                </a:solidFill>
                <a:latin typeface="Arial" charset="0"/>
              </a:rPr>
              <a:t>aula02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729CE67B-CAAD-4955-9742-A702E82EF58D}"/>
              </a:ext>
            </a:extLst>
          </p:cNvPr>
          <p:cNvCxnSpPr/>
          <p:nvPr/>
        </p:nvCxnSpPr>
        <p:spPr bwMode="auto">
          <a:xfrm flipH="1" flipV="1">
            <a:off x="3737610" y="3429000"/>
            <a:ext cx="1381896" cy="64008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892886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A98238F-5C7F-430A-A16F-77243E4635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6074" b="38266"/>
          <a:stretch/>
        </p:blipFill>
        <p:spPr>
          <a:xfrm>
            <a:off x="757151" y="216807"/>
            <a:ext cx="3734839" cy="6424385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7510284E-DF3C-40F4-983E-D126D7417353}"/>
              </a:ext>
            </a:extLst>
          </p:cNvPr>
          <p:cNvSpPr/>
          <p:nvPr/>
        </p:nvSpPr>
        <p:spPr bwMode="auto">
          <a:xfrm>
            <a:off x="1417320" y="1737360"/>
            <a:ext cx="2080260" cy="4572000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" name="Seta: para a Esquerda 4">
            <a:extLst>
              <a:ext uri="{FF2B5EF4-FFF2-40B4-BE49-F238E27FC236}">
                <a16:creationId xmlns:a16="http://schemas.microsoft.com/office/drawing/2014/main" id="{82422E25-397F-4163-AC90-8CBFC260F8D4}"/>
              </a:ext>
            </a:extLst>
          </p:cNvPr>
          <p:cNvSpPr/>
          <p:nvPr/>
        </p:nvSpPr>
        <p:spPr bwMode="auto">
          <a:xfrm>
            <a:off x="3509010" y="2834640"/>
            <a:ext cx="2960370" cy="1485900"/>
          </a:xfrm>
          <a:prstGeom prst="lef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BD07CCD-ADBB-43C4-8D7E-1654E3E5EF72}"/>
              </a:ext>
            </a:extLst>
          </p:cNvPr>
          <p:cNvSpPr/>
          <p:nvPr/>
        </p:nvSpPr>
        <p:spPr bwMode="auto">
          <a:xfrm>
            <a:off x="5715000" y="2240280"/>
            <a:ext cx="3417570" cy="2617470"/>
          </a:xfrm>
          <a:prstGeom prst="rect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3600" dirty="0">
                <a:solidFill>
                  <a:schemeClr val="tx1"/>
                </a:solidFill>
                <a:latin typeface="Arial" charset="0"/>
              </a:rPr>
              <a:t>Arquivos do projeto </a:t>
            </a:r>
            <a:r>
              <a:rPr lang="pt-BR" sz="3600" b="1" dirty="0">
                <a:solidFill>
                  <a:schemeClr val="tx1"/>
                </a:solidFill>
                <a:latin typeface="Arial" charset="0"/>
              </a:rPr>
              <a:t>aula02</a:t>
            </a:r>
          </a:p>
        </p:txBody>
      </p:sp>
    </p:spTree>
    <p:extLst>
      <p:ext uri="{BB962C8B-B14F-4D97-AF65-F5344CB8AC3E}">
        <p14:creationId xmlns:p14="http://schemas.microsoft.com/office/powerpoint/2010/main" val="33686926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A98238F-5C7F-430A-A16F-77243E463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091" y="311728"/>
            <a:ext cx="9351818" cy="6234545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85205135-55FE-4903-BD16-1D7B47730C52}"/>
              </a:ext>
            </a:extLst>
          </p:cNvPr>
          <p:cNvSpPr/>
          <p:nvPr/>
        </p:nvSpPr>
        <p:spPr bwMode="auto">
          <a:xfrm>
            <a:off x="1828800" y="1223010"/>
            <a:ext cx="1394460" cy="2731770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" name="Seta: para a Esquerda 4">
            <a:extLst>
              <a:ext uri="{FF2B5EF4-FFF2-40B4-BE49-F238E27FC236}">
                <a16:creationId xmlns:a16="http://schemas.microsoft.com/office/drawing/2014/main" id="{F82039B5-3287-4854-8399-A6C0737CA360}"/>
              </a:ext>
            </a:extLst>
          </p:cNvPr>
          <p:cNvSpPr/>
          <p:nvPr/>
        </p:nvSpPr>
        <p:spPr bwMode="auto">
          <a:xfrm>
            <a:off x="3371850" y="1965960"/>
            <a:ext cx="2004060" cy="971550"/>
          </a:xfrm>
          <a:prstGeom prst="lef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108AE0D-455F-44BA-A891-DD11A9ADE634}"/>
              </a:ext>
            </a:extLst>
          </p:cNvPr>
          <p:cNvSpPr/>
          <p:nvPr/>
        </p:nvSpPr>
        <p:spPr bwMode="auto">
          <a:xfrm>
            <a:off x="5141597" y="1594485"/>
            <a:ext cx="3348990" cy="1714500"/>
          </a:xfrm>
          <a:prstGeom prst="rect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3600" dirty="0">
                <a:solidFill>
                  <a:schemeClr val="tx1"/>
                </a:solidFill>
                <a:latin typeface="Arial" charset="0"/>
              </a:rPr>
              <a:t>Arquivos do projeto </a:t>
            </a:r>
            <a:r>
              <a:rPr lang="pt-BR" sz="3600" b="1" dirty="0">
                <a:solidFill>
                  <a:schemeClr val="tx1"/>
                </a:solidFill>
                <a:latin typeface="Arial" charset="0"/>
              </a:rPr>
              <a:t>aula02</a:t>
            </a:r>
          </a:p>
        </p:txBody>
      </p:sp>
    </p:spTree>
    <p:extLst>
      <p:ext uri="{BB962C8B-B14F-4D97-AF65-F5344CB8AC3E}">
        <p14:creationId xmlns:p14="http://schemas.microsoft.com/office/powerpoint/2010/main" val="3111508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1">
            <a:extLst>
              <a:ext uri="{FF2B5EF4-FFF2-40B4-BE49-F238E27FC236}">
                <a16:creationId xmlns:a16="http://schemas.microsoft.com/office/drawing/2014/main" id="{1AE79A22-83FC-43E3-BA98-6255DEB3F2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0DABB99F-CC7B-4F57-87B5-B1858A548F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Limpando os Arquivos de CSS</a:t>
            </a:r>
          </a:p>
        </p:txBody>
      </p:sp>
    </p:spTree>
    <p:extLst>
      <p:ext uri="{BB962C8B-B14F-4D97-AF65-F5344CB8AC3E}">
        <p14:creationId xmlns:p14="http://schemas.microsoft.com/office/powerpoint/2010/main" val="937882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62BF597-46AF-4E95-BB71-2CA2254DFB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4033"/>
          <a:stretch/>
        </p:blipFill>
        <p:spPr>
          <a:xfrm>
            <a:off x="565045" y="420822"/>
            <a:ext cx="2806805" cy="6040437"/>
          </a:xfrm>
          <a:prstGeom prst="rect">
            <a:avLst/>
          </a:prstGeom>
        </p:spPr>
      </p:pic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4FAFFB63-ADB5-4AE2-9723-3435E3562842}"/>
              </a:ext>
            </a:extLst>
          </p:cNvPr>
          <p:cNvCxnSpPr>
            <a:cxnSpLocks/>
          </p:cNvCxnSpPr>
          <p:nvPr/>
        </p:nvCxnSpPr>
        <p:spPr bwMode="auto">
          <a:xfrm flipV="1">
            <a:off x="2307265" y="3746811"/>
            <a:ext cx="2699075" cy="86771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F1FC8F69-4733-480C-A4E7-70245F3C0288}"/>
              </a:ext>
            </a:extLst>
          </p:cNvPr>
          <p:cNvSpPr/>
          <p:nvPr/>
        </p:nvSpPr>
        <p:spPr bwMode="auto">
          <a:xfrm>
            <a:off x="4840259" y="2757949"/>
            <a:ext cx="3653789" cy="1977723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3200" dirty="0">
                <a:solidFill>
                  <a:schemeClr val="tx1"/>
                </a:solidFill>
                <a:latin typeface="Arial" charset="0"/>
              </a:rPr>
              <a:t>Clique 2x no </a:t>
            </a:r>
            <a:r>
              <a:rPr lang="pt-BR" sz="3200" b="1" dirty="0">
                <a:solidFill>
                  <a:schemeClr val="tx1"/>
                </a:solidFill>
                <a:latin typeface="Arial" charset="0"/>
              </a:rPr>
              <a:t>index.css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09013C0C-8680-406E-B067-63B5B4F4366F}"/>
              </a:ext>
            </a:extLst>
          </p:cNvPr>
          <p:cNvSpPr/>
          <p:nvPr/>
        </p:nvSpPr>
        <p:spPr bwMode="auto">
          <a:xfrm>
            <a:off x="723014" y="4348716"/>
            <a:ext cx="1733107" cy="478465"/>
          </a:xfrm>
          <a:prstGeom prst="ellipse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6583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C2DD82-DF06-4312-B54C-900D3D635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091" y="311728"/>
            <a:ext cx="9351818" cy="6234545"/>
          </a:xfrm>
          <a:prstGeom prst="rect">
            <a:avLst/>
          </a:prstGeom>
        </p:spPr>
      </p:pic>
      <p:sp>
        <p:nvSpPr>
          <p:cNvPr id="2" name="Elipse 1">
            <a:extLst>
              <a:ext uri="{FF2B5EF4-FFF2-40B4-BE49-F238E27FC236}">
                <a16:creationId xmlns:a16="http://schemas.microsoft.com/office/drawing/2014/main" id="{9B8A22AB-E71A-4649-9FC8-FF59B9900AC9}"/>
              </a:ext>
            </a:extLst>
          </p:cNvPr>
          <p:cNvSpPr/>
          <p:nvPr/>
        </p:nvSpPr>
        <p:spPr bwMode="auto">
          <a:xfrm>
            <a:off x="7018020" y="3348990"/>
            <a:ext cx="3291840" cy="1874520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400" dirty="0">
                <a:solidFill>
                  <a:schemeClr val="tx1"/>
                </a:solidFill>
                <a:latin typeface="Arial" charset="0"/>
              </a:rPr>
              <a:t>Limpe o conteúdo do arquivo </a:t>
            </a:r>
            <a:r>
              <a:rPr lang="pt-BR" sz="3200" b="1" dirty="0">
                <a:solidFill>
                  <a:schemeClr val="tx1"/>
                </a:solidFill>
                <a:latin typeface="Arial" charset="0"/>
              </a:rPr>
              <a:t>index.css</a:t>
            </a:r>
            <a:endParaRPr lang="pt-BR" sz="2400" b="1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9A9C8312-6EEB-4A5C-9408-C5A0D0C9BFBF}"/>
              </a:ext>
            </a:extLst>
          </p:cNvPr>
          <p:cNvSpPr/>
          <p:nvPr/>
        </p:nvSpPr>
        <p:spPr bwMode="auto">
          <a:xfrm>
            <a:off x="1908810" y="2194560"/>
            <a:ext cx="2068830" cy="560070"/>
          </a:xfrm>
          <a:prstGeom prst="rightArrow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844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60B1845-9150-4638-A570-6540446E2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091" y="311728"/>
            <a:ext cx="9351818" cy="6234545"/>
          </a:xfrm>
          <a:prstGeom prst="rect">
            <a:avLst/>
          </a:prstGeom>
        </p:spPr>
      </p:pic>
      <p:sp>
        <p:nvSpPr>
          <p:cNvPr id="4" name="Elipse 3">
            <a:extLst>
              <a:ext uri="{FF2B5EF4-FFF2-40B4-BE49-F238E27FC236}">
                <a16:creationId xmlns:a16="http://schemas.microsoft.com/office/drawing/2014/main" id="{B80AFDA5-7691-432C-B4C2-FCA2FA681CA8}"/>
              </a:ext>
            </a:extLst>
          </p:cNvPr>
          <p:cNvSpPr/>
          <p:nvPr/>
        </p:nvSpPr>
        <p:spPr bwMode="auto">
          <a:xfrm>
            <a:off x="4343400" y="1817370"/>
            <a:ext cx="2320290" cy="1314450"/>
          </a:xfrm>
          <a:prstGeom prst="ellipse">
            <a:avLst/>
          </a:prstGeom>
          <a:ln>
            <a:solidFill>
              <a:schemeClr val="accent3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400" dirty="0">
                <a:solidFill>
                  <a:schemeClr val="tx1"/>
                </a:solidFill>
                <a:latin typeface="Arial" charset="0"/>
              </a:rPr>
              <a:t>Conteúdo Limpo</a:t>
            </a:r>
            <a:endParaRPr lang="pt-BR" sz="2400" b="1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811754F9-2FD0-4E45-886B-BE0CA1BE40BE}"/>
              </a:ext>
            </a:extLst>
          </p:cNvPr>
          <p:cNvSpPr/>
          <p:nvPr/>
        </p:nvSpPr>
        <p:spPr bwMode="auto">
          <a:xfrm>
            <a:off x="1908810" y="2194560"/>
            <a:ext cx="2068830" cy="560070"/>
          </a:xfrm>
          <a:prstGeom prst="rightArrow">
            <a:avLst/>
          </a:prstGeom>
          <a:noFill/>
          <a:ln w="38100">
            <a:solidFill>
              <a:schemeClr val="accent3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652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62BF597-46AF-4E95-BB71-2CA2254DFB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4033"/>
          <a:stretch/>
        </p:blipFill>
        <p:spPr>
          <a:xfrm>
            <a:off x="565045" y="420822"/>
            <a:ext cx="2806805" cy="6040437"/>
          </a:xfrm>
          <a:prstGeom prst="rect">
            <a:avLst/>
          </a:prstGeom>
        </p:spPr>
      </p:pic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4FAFFB63-ADB5-4AE2-9723-3435E3562842}"/>
              </a:ext>
            </a:extLst>
          </p:cNvPr>
          <p:cNvCxnSpPr>
            <a:cxnSpLocks/>
          </p:cNvCxnSpPr>
          <p:nvPr/>
        </p:nvCxnSpPr>
        <p:spPr bwMode="auto">
          <a:xfrm flipV="1">
            <a:off x="2211572" y="3746812"/>
            <a:ext cx="2794768" cy="8090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F1FC8F69-4733-480C-A4E7-70245F3C0288}"/>
              </a:ext>
            </a:extLst>
          </p:cNvPr>
          <p:cNvSpPr/>
          <p:nvPr/>
        </p:nvSpPr>
        <p:spPr bwMode="auto">
          <a:xfrm>
            <a:off x="4840259" y="2757949"/>
            <a:ext cx="3653789" cy="1977723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3200" dirty="0">
                <a:solidFill>
                  <a:schemeClr val="tx1"/>
                </a:solidFill>
                <a:latin typeface="Arial" charset="0"/>
              </a:rPr>
              <a:t>Clique 2x no </a:t>
            </a:r>
            <a:r>
              <a:rPr lang="pt-BR" sz="3200" b="1" dirty="0">
                <a:solidFill>
                  <a:schemeClr val="tx1"/>
                </a:solidFill>
                <a:latin typeface="Arial" charset="0"/>
              </a:rPr>
              <a:t>App.css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AC9C0814-7B0B-4FF7-9A56-7A8DF1D15E19}"/>
              </a:ext>
            </a:extLst>
          </p:cNvPr>
          <p:cNvSpPr/>
          <p:nvPr/>
        </p:nvSpPr>
        <p:spPr bwMode="auto">
          <a:xfrm>
            <a:off x="786809" y="3508744"/>
            <a:ext cx="1594884" cy="616689"/>
          </a:xfrm>
          <a:prstGeom prst="ellipse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5658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AFB534B-CB48-45DB-AFF9-89007D03C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091" y="311728"/>
            <a:ext cx="9351818" cy="6234545"/>
          </a:xfrm>
          <a:prstGeom prst="rect">
            <a:avLst/>
          </a:prstGeom>
        </p:spPr>
      </p:pic>
      <p:sp>
        <p:nvSpPr>
          <p:cNvPr id="4" name="Elipse 3">
            <a:extLst>
              <a:ext uri="{FF2B5EF4-FFF2-40B4-BE49-F238E27FC236}">
                <a16:creationId xmlns:a16="http://schemas.microsoft.com/office/drawing/2014/main" id="{19DF938A-0982-4449-8FA6-06058CD188DF}"/>
              </a:ext>
            </a:extLst>
          </p:cNvPr>
          <p:cNvSpPr/>
          <p:nvPr/>
        </p:nvSpPr>
        <p:spPr bwMode="auto">
          <a:xfrm>
            <a:off x="7018020" y="3348990"/>
            <a:ext cx="3291840" cy="1874520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400" dirty="0">
                <a:solidFill>
                  <a:schemeClr val="tx1"/>
                </a:solidFill>
                <a:latin typeface="Arial" charset="0"/>
              </a:rPr>
              <a:t>Limpe o conteúdo do arquivo </a:t>
            </a:r>
            <a:r>
              <a:rPr lang="pt-BR" sz="3200" b="1" dirty="0">
                <a:solidFill>
                  <a:schemeClr val="tx1"/>
                </a:solidFill>
                <a:latin typeface="Arial" charset="0"/>
              </a:rPr>
              <a:t>App.css</a:t>
            </a:r>
            <a:endParaRPr lang="pt-BR" sz="2400" b="1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93222136-FB57-4F25-9C9B-62595FDC347D}"/>
              </a:ext>
            </a:extLst>
          </p:cNvPr>
          <p:cNvSpPr/>
          <p:nvPr/>
        </p:nvSpPr>
        <p:spPr bwMode="auto">
          <a:xfrm>
            <a:off x="1920240" y="1874520"/>
            <a:ext cx="2068830" cy="560070"/>
          </a:xfrm>
          <a:prstGeom prst="rightArrow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0952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A50F956-D6A3-415C-A2EE-7BA434C8E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091" y="311728"/>
            <a:ext cx="9351818" cy="6234545"/>
          </a:xfrm>
          <a:prstGeom prst="rect">
            <a:avLst/>
          </a:prstGeom>
        </p:spPr>
      </p:pic>
      <p:sp>
        <p:nvSpPr>
          <p:cNvPr id="4" name="Elipse 3">
            <a:extLst>
              <a:ext uri="{FF2B5EF4-FFF2-40B4-BE49-F238E27FC236}">
                <a16:creationId xmlns:a16="http://schemas.microsoft.com/office/drawing/2014/main" id="{80E95DC6-E2D7-4E3E-8B8A-8254C4B7219E}"/>
              </a:ext>
            </a:extLst>
          </p:cNvPr>
          <p:cNvSpPr/>
          <p:nvPr/>
        </p:nvSpPr>
        <p:spPr bwMode="auto">
          <a:xfrm>
            <a:off x="4114800" y="1480185"/>
            <a:ext cx="2320290" cy="1314450"/>
          </a:xfrm>
          <a:prstGeom prst="ellipse">
            <a:avLst/>
          </a:prstGeom>
          <a:ln>
            <a:solidFill>
              <a:schemeClr val="accent3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400" dirty="0">
                <a:solidFill>
                  <a:schemeClr val="tx1"/>
                </a:solidFill>
                <a:latin typeface="Arial" charset="0"/>
              </a:rPr>
              <a:t>Conteúdo Limpo</a:t>
            </a:r>
            <a:endParaRPr lang="pt-BR" sz="2400" b="1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D214571D-6107-4574-9B46-393D358E7F93}"/>
              </a:ext>
            </a:extLst>
          </p:cNvPr>
          <p:cNvSpPr/>
          <p:nvPr/>
        </p:nvSpPr>
        <p:spPr bwMode="auto">
          <a:xfrm>
            <a:off x="1847331" y="1857375"/>
            <a:ext cx="2068830" cy="560070"/>
          </a:xfrm>
          <a:prstGeom prst="rightArrow">
            <a:avLst/>
          </a:prstGeom>
          <a:noFill/>
          <a:ln w="38100">
            <a:solidFill>
              <a:schemeClr val="accent3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562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1">
            <a:extLst>
              <a:ext uri="{FF2B5EF4-FFF2-40B4-BE49-F238E27FC236}">
                <a16:creationId xmlns:a16="http://schemas.microsoft.com/office/drawing/2014/main" id="{BCFE5937-9FB2-4665-86F0-6089F70DE8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0F77A65-CBD1-48C7-8758-0990F3D4BD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Limpando o arquivo </a:t>
            </a:r>
            <a:r>
              <a:rPr lang="pt-BR" dirty="0" err="1"/>
              <a:t>App.jsx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09496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62BF597-46AF-4E95-BB71-2CA2254DFB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4033"/>
          <a:stretch/>
        </p:blipFill>
        <p:spPr>
          <a:xfrm>
            <a:off x="565045" y="420822"/>
            <a:ext cx="2806805" cy="6040437"/>
          </a:xfrm>
          <a:prstGeom prst="rect">
            <a:avLst/>
          </a:prstGeom>
        </p:spPr>
      </p:pic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4FAFFB63-ADB5-4AE2-9723-3435E3562842}"/>
              </a:ext>
            </a:extLst>
          </p:cNvPr>
          <p:cNvCxnSpPr>
            <a:cxnSpLocks/>
          </p:cNvCxnSpPr>
          <p:nvPr/>
        </p:nvCxnSpPr>
        <p:spPr bwMode="auto">
          <a:xfrm flipV="1">
            <a:off x="2190307" y="3746812"/>
            <a:ext cx="2816033" cy="42115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F1FC8F69-4733-480C-A4E7-70245F3C0288}"/>
              </a:ext>
            </a:extLst>
          </p:cNvPr>
          <p:cNvSpPr/>
          <p:nvPr/>
        </p:nvSpPr>
        <p:spPr bwMode="auto">
          <a:xfrm>
            <a:off x="4840259" y="2757949"/>
            <a:ext cx="3653789" cy="1977723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3200" dirty="0">
                <a:solidFill>
                  <a:schemeClr val="tx1"/>
                </a:solidFill>
                <a:latin typeface="Arial" charset="0"/>
              </a:rPr>
              <a:t>Clique 2x no </a:t>
            </a:r>
            <a:r>
              <a:rPr lang="pt-BR" sz="3200" b="1" dirty="0" err="1">
                <a:solidFill>
                  <a:schemeClr val="tx1"/>
                </a:solidFill>
                <a:latin typeface="Arial" charset="0"/>
              </a:rPr>
              <a:t>App.jsx</a:t>
            </a:r>
            <a:endParaRPr lang="pt-BR" sz="3200" b="1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9C4F1A96-9EB2-47DE-9316-7D0EA37BB99E}"/>
              </a:ext>
            </a:extLst>
          </p:cNvPr>
          <p:cNvSpPr/>
          <p:nvPr/>
        </p:nvSpPr>
        <p:spPr bwMode="auto">
          <a:xfrm>
            <a:off x="818707" y="3817088"/>
            <a:ext cx="1669312" cy="669852"/>
          </a:xfrm>
          <a:prstGeom prst="ellipse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50647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3C58226-A1E2-4663-A044-40FD0129A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091" y="311728"/>
            <a:ext cx="9351818" cy="6234545"/>
          </a:xfrm>
          <a:prstGeom prst="rect">
            <a:avLst/>
          </a:prstGeom>
        </p:spPr>
      </p:pic>
      <p:sp>
        <p:nvSpPr>
          <p:cNvPr id="4" name="Elipse 3">
            <a:extLst>
              <a:ext uri="{FF2B5EF4-FFF2-40B4-BE49-F238E27FC236}">
                <a16:creationId xmlns:a16="http://schemas.microsoft.com/office/drawing/2014/main" id="{3C62ABF3-5A26-47F3-B1E7-E179FA2EAF40}"/>
              </a:ext>
            </a:extLst>
          </p:cNvPr>
          <p:cNvSpPr/>
          <p:nvPr/>
        </p:nvSpPr>
        <p:spPr bwMode="auto">
          <a:xfrm>
            <a:off x="7018020" y="3348990"/>
            <a:ext cx="3291840" cy="1874520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400" dirty="0">
                <a:solidFill>
                  <a:schemeClr val="tx1"/>
                </a:solidFill>
                <a:latin typeface="Arial" charset="0"/>
              </a:rPr>
              <a:t>Limpe o conteúdo do arquivo </a:t>
            </a:r>
            <a:r>
              <a:rPr lang="pt-BR" sz="3200" b="1" dirty="0" err="1">
                <a:solidFill>
                  <a:schemeClr val="tx1"/>
                </a:solidFill>
                <a:latin typeface="Arial" charset="0"/>
              </a:rPr>
              <a:t>App.jsx</a:t>
            </a:r>
            <a:endParaRPr lang="pt-BR" sz="2400" b="1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35005CB1-BDDC-46E0-891A-BA4C418750D1}"/>
              </a:ext>
            </a:extLst>
          </p:cNvPr>
          <p:cNvSpPr/>
          <p:nvPr/>
        </p:nvSpPr>
        <p:spPr bwMode="auto">
          <a:xfrm>
            <a:off x="1885950" y="2023110"/>
            <a:ext cx="2068830" cy="560070"/>
          </a:xfrm>
          <a:prstGeom prst="rightArrow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5269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1">
            <a:extLst>
              <a:ext uri="{FF2B5EF4-FFF2-40B4-BE49-F238E27FC236}">
                <a16:creationId xmlns:a16="http://schemas.microsoft.com/office/drawing/2014/main" id="{4A0D8270-FAA9-4BFF-A038-84B3FF5904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8483E2C-762A-45CA-AF74-DF0EE4D40C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Reescrevendo o arquivo </a:t>
            </a:r>
            <a:r>
              <a:rPr lang="pt-BR" dirty="0" err="1"/>
              <a:t>App.jsx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04194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296F323-47AB-4F8D-989F-E15A1D545A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620" y="1050774"/>
            <a:ext cx="10246761" cy="4756452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E6F5ED8C-5DEC-43A2-BDDC-EBFE9B1CA2FF}"/>
              </a:ext>
            </a:extLst>
          </p:cNvPr>
          <p:cNvSpPr/>
          <p:nvPr/>
        </p:nvSpPr>
        <p:spPr bwMode="auto">
          <a:xfrm>
            <a:off x="2937510" y="2880360"/>
            <a:ext cx="7543800" cy="2651760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4319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0D769AE-E716-4E28-A463-9729BB162C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18" y="534359"/>
            <a:ext cx="9974962" cy="5789282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D76DC2A-F939-4091-9D43-7CEFCFA29A4C}"/>
              </a:ext>
            </a:extLst>
          </p:cNvPr>
          <p:cNvSpPr/>
          <p:nvPr/>
        </p:nvSpPr>
        <p:spPr bwMode="auto">
          <a:xfrm>
            <a:off x="3543300" y="3429000"/>
            <a:ext cx="2891790" cy="2034540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34685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2E75D90-8992-469C-B057-550014415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89" y="1669351"/>
            <a:ext cx="11109821" cy="4687959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1B5DEC71-EAB6-494D-AAC7-A15052738FD2}"/>
              </a:ext>
            </a:extLst>
          </p:cNvPr>
          <p:cNvSpPr/>
          <p:nvPr/>
        </p:nvSpPr>
        <p:spPr bwMode="auto">
          <a:xfrm>
            <a:off x="2423160" y="3977640"/>
            <a:ext cx="8481060" cy="1325880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10322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D478410-FD0D-4D99-9BD8-66DB28FC4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889" y="2117965"/>
            <a:ext cx="7860221" cy="3515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7674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7FAF36D-517A-4856-87AE-287C1CB58D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9178" b="50124"/>
          <a:stretch/>
        </p:blipFill>
        <p:spPr>
          <a:xfrm>
            <a:off x="685589" y="389054"/>
            <a:ext cx="11087311" cy="5440246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17FD8B8F-BEF1-ADCC-02F4-F28E4985B320}"/>
              </a:ext>
            </a:extLst>
          </p:cNvPr>
          <p:cNvSpPr/>
          <p:nvPr/>
        </p:nvSpPr>
        <p:spPr bwMode="auto">
          <a:xfrm>
            <a:off x="2857500" y="2114550"/>
            <a:ext cx="6057900" cy="971550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9710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7FAF36D-517A-4856-87AE-287C1CB58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590" y="389054"/>
            <a:ext cx="10064186" cy="6022013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17FD8B8F-BEF1-ADCC-02F4-F28E4985B320}"/>
              </a:ext>
            </a:extLst>
          </p:cNvPr>
          <p:cNvSpPr/>
          <p:nvPr/>
        </p:nvSpPr>
        <p:spPr bwMode="auto">
          <a:xfrm>
            <a:off x="1806498" y="1348740"/>
            <a:ext cx="3590692" cy="524665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3618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F4D117-6F95-45F5-AEF3-103354BF1A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Adicionando CSS no arquivo App.css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C4B188-99CD-40A0-9AEC-CC127498DA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60018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EC12707-D38F-4072-9C3D-F139B1F2C1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4033"/>
          <a:stretch/>
        </p:blipFill>
        <p:spPr>
          <a:xfrm>
            <a:off x="565045" y="420822"/>
            <a:ext cx="2806805" cy="6040437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5E49732C-AB5C-4F0B-B8A1-E386A8DF2EF0}"/>
              </a:ext>
            </a:extLst>
          </p:cNvPr>
          <p:cNvCxnSpPr>
            <a:cxnSpLocks/>
          </p:cNvCxnSpPr>
          <p:nvPr/>
        </p:nvCxnSpPr>
        <p:spPr bwMode="auto">
          <a:xfrm flipV="1">
            <a:off x="2364059" y="3746810"/>
            <a:ext cx="2642281" cy="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" name="Elipse 4">
            <a:extLst>
              <a:ext uri="{FF2B5EF4-FFF2-40B4-BE49-F238E27FC236}">
                <a16:creationId xmlns:a16="http://schemas.microsoft.com/office/drawing/2014/main" id="{E234DB94-8304-44B3-A6D7-A9F688DD60B4}"/>
              </a:ext>
            </a:extLst>
          </p:cNvPr>
          <p:cNvSpPr/>
          <p:nvPr/>
        </p:nvSpPr>
        <p:spPr bwMode="auto">
          <a:xfrm>
            <a:off x="5006340" y="2929569"/>
            <a:ext cx="3321626" cy="1634482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3200" dirty="0">
                <a:solidFill>
                  <a:schemeClr val="tx1"/>
                </a:solidFill>
                <a:latin typeface="Arial" charset="0"/>
              </a:rPr>
              <a:t>Clique 2x no </a:t>
            </a:r>
            <a:r>
              <a:rPr lang="pt-BR" sz="3200" b="1" dirty="0">
                <a:solidFill>
                  <a:schemeClr val="tx1"/>
                </a:solidFill>
                <a:latin typeface="Arial" charset="0"/>
              </a:rPr>
              <a:t>App.css</a:t>
            </a:r>
          </a:p>
        </p:txBody>
      </p:sp>
    </p:spTree>
    <p:extLst>
      <p:ext uri="{BB962C8B-B14F-4D97-AF65-F5344CB8AC3E}">
        <p14:creationId xmlns:p14="http://schemas.microsoft.com/office/powerpoint/2010/main" val="42186502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EC12707-D38F-4072-9C3D-F139B1F2C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45" y="420822"/>
            <a:ext cx="10809199" cy="6040437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5E49732C-AB5C-4F0B-B8A1-E386A8DF2EF0}"/>
              </a:ext>
            </a:extLst>
          </p:cNvPr>
          <p:cNvCxnSpPr>
            <a:cxnSpLocks/>
            <a:endCxn id="2" idx="3"/>
          </p:cNvCxnSpPr>
          <p:nvPr/>
        </p:nvCxnSpPr>
        <p:spPr bwMode="auto">
          <a:xfrm flipV="1">
            <a:off x="2364059" y="965330"/>
            <a:ext cx="3492795" cy="278148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" name="Elipse 1">
            <a:extLst>
              <a:ext uri="{FF2B5EF4-FFF2-40B4-BE49-F238E27FC236}">
                <a16:creationId xmlns:a16="http://schemas.microsoft.com/office/drawing/2014/main" id="{6B8037B7-449C-4876-8475-73682F9823B1}"/>
              </a:ext>
            </a:extLst>
          </p:cNvPr>
          <p:cNvSpPr/>
          <p:nvPr/>
        </p:nvSpPr>
        <p:spPr bwMode="auto">
          <a:xfrm>
            <a:off x="5532120" y="262890"/>
            <a:ext cx="2217420" cy="822960"/>
          </a:xfrm>
          <a:prstGeom prst="ellipse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88B1C0F-A9A5-4AAC-8C7F-F22C4B5A0D75}"/>
              </a:ext>
            </a:extLst>
          </p:cNvPr>
          <p:cNvSpPr/>
          <p:nvPr/>
        </p:nvSpPr>
        <p:spPr bwMode="auto">
          <a:xfrm>
            <a:off x="6640830" y="1371600"/>
            <a:ext cx="2423160" cy="1703070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C27D464-5050-4BB8-853E-78E724F13179}"/>
              </a:ext>
            </a:extLst>
          </p:cNvPr>
          <p:cNvSpPr/>
          <p:nvPr/>
        </p:nvSpPr>
        <p:spPr bwMode="auto">
          <a:xfrm>
            <a:off x="6640830" y="3232602"/>
            <a:ext cx="4274820" cy="2781482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04D1EEDA-2CBE-46E2-99E2-972BB9B3D71B}"/>
              </a:ext>
            </a:extLst>
          </p:cNvPr>
          <p:cNvSpPr/>
          <p:nvPr/>
        </p:nvSpPr>
        <p:spPr bwMode="auto">
          <a:xfrm>
            <a:off x="9829800" y="1623060"/>
            <a:ext cx="2328420" cy="1337310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dirty="0">
                <a:solidFill>
                  <a:schemeClr val="tx1"/>
                </a:solidFill>
                <a:latin typeface="Arial" charset="0"/>
              </a:rPr>
              <a:t>Adicione estas 2 regras CSS</a:t>
            </a:r>
          </a:p>
        </p:txBody>
      </p:sp>
    </p:spTree>
    <p:extLst>
      <p:ext uri="{BB962C8B-B14F-4D97-AF65-F5344CB8AC3E}">
        <p14:creationId xmlns:p14="http://schemas.microsoft.com/office/powerpoint/2010/main" val="1558643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0B1CE57-810C-4971-BFE1-B4DA30CDF2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376"/>
          <a:stretch/>
        </p:blipFill>
        <p:spPr>
          <a:xfrm>
            <a:off x="491490" y="753030"/>
            <a:ext cx="5135721" cy="535193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EE2412D2-C5A0-4824-8311-4F0251629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24024"/>
            <a:ext cx="5736366" cy="3409951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C5C4D3E6-5FBE-4848-94F8-7FAEC53242DD}"/>
              </a:ext>
            </a:extLst>
          </p:cNvPr>
          <p:cNvSpPr/>
          <p:nvPr/>
        </p:nvSpPr>
        <p:spPr bwMode="auto">
          <a:xfrm>
            <a:off x="1474470" y="1611630"/>
            <a:ext cx="2103120" cy="1405890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88587CC-2348-4CEB-A3A4-C4EE1D75F0D5}"/>
              </a:ext>
            </a:extLst>
          </p:cNvPr>
          <p:cNvSpPr/>
          <p:nvPr/>
        </p:nvSpPr>
        <p:spPr bwMode="auto">
          <a:xfrm>
            <a:off x="1474470" y="3303270"/>
            <a:ext cx="3806190" cy="2423160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8B762662-000B-4B15-8C24-C8E3DF5B7FCC}"/>
              </a:ext>
            </a:extLst>
          </p:cNvPr>
          <p:cNvCxnSpPr/>
          <p:nvPr/>
        </p:nvCxnSpPr>
        <p:spPr bwMode="auto">
          <a:xfrm>
            <a:off x="3657600" y="2103120"/>
            <a:ext cx="2438400" cy="43434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6999FED2-0DFA-4195-8989-099ED48F8642}"/>
              </a:ext>
            </a:extLst>
          </p:cNvPr>
          <p:cNvCxnSpPr>
            <a:stCxn id="5" idx="3"/>
          </p:cNvCxnSpPr>
          <p:nvPr/>
        </p:nvCxnSpPr>
        <p:spPr bwMode="auto">
          <a:xfrm flipV="1">
            <a:off x="5280660" y="3166110"/>
            <a:ext cx="982980" cy="134874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8388842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596A7A4-0E91-4BD4-A586-42AE8D4D8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910" y="1522667"/>
            <a:ext cx="8298180" cy="4932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808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2980CFD-7AC3-4DF4-BB40-17D4D8D4EA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6191"/>
          <a:stretch/>
        </p:blipFill>
        <p:spPr>
          <a:xfrm>
            <a:off x="1404567" y="1280160"/>
            <a:ext cx="9962423" cy="523298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A7DE9F22-F64C-0E6A-6137-DAC6FA7E7BE9}"/>
              </a:ext>
            </a:extLst>
          </p:cNvPr>
          <p:cNvSpPr/>
          <p:nvPr/>
        </p:nvSpPr>
        <p:spPr bwMode="auto">
          <a:xfrm>
            <a:off x="2854155" y="2700268"/>
            <a:ext cx="6427005" cy="3494792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" name="Seta para a Direita 3">
            <a:extLst>
              <a:ext uri="{FF2B5EF4-FFF2-40B4-BE49-F238E27FC236}">
                <a16:creationId xmlns:a16="http://schemas.microsoft.com/office/drawing/2014/main" id="{5EA2945D-A44A-9300-E1FD-B98454938213}"/>
              </a:ext>
            </a:extLst>
          </p:cNvPr>
          <p:cNvSpPr/>
          <p:nvPr/>
        </p:nvSpPr>
        <p:spPr bwMode="auto">
          <a:xfrm>
            <a:off x="1404567" y="3686314"/>
            <a:ext cx="1293541" cy="1048215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9B422319-C332-4BC9-B635-98DAC31932E2}"/>
              </a:ext>
            </a:extLst>
          </p:cNvPr>
          <p:cNvSpPr/>
          <p:nvPr/>
        </p:nvSpPr>
        <p:spPr bwMode="auto">
          <a:xfrm>
            <a:off x="7912200" y="662940"/>
            <a:ext cx="2411730" cy="1522978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dirty="0">
                <a:solidFill>
                  <a:schemeClr val="tx1"/>
                </a:solidFill>
                <a:latin typeface="Arial" charset="0"/>
              </a:rPr>
              <a:t>Adicione esta classe CSS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7D72FFF2-1421-492B-8C4E-B66F3BD4899C}"/>
              </a:ext>
            </a:extLst>
          </p:cNvPr>
          <p:cNvCxnSpPr>
            <a:stCxn id="5" idx="2"/>
          </p:cNvCxnSpPr>
          <p:nvPr/>
        </p:nvCxnSpPr>
        <p:spPr bwMode="auto">
          <a:xfrm flipH="1">
            <a:off x="4000500" y="1424429"/>
            <a:ext cx="3911700" cy="139878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2631308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2980CFD-7AC3-4DF4-BB40-17D4D8D4E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568" y="281910"/>
            <a:ext cx="5196954" cy="623123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A7DE9F22-F64C-0E6A-6137-DAC6FA7E7BE9}"/>
              </a:ext>
            </a:extLst>
          </p:cNvPr>
          <p:cNvSpPr/>
          <p:nvPr/>
        </p:nvSpPr>
        <p:spPr bwMode="auto">
          <a:xfrm>
            <a:off x="1962615" y="4460488"/>
            <a:ext cx="3635297" cy="1918010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" name="Seta para a Direita 3">
            <a:extLst>
              <a:ext uri="{FF2B5EF4-FFF2-40B4-BE49-F238E27FC236}">
                <a16:creationId xmlns:a16="http://schemas.microsoft.com/office/drawing/2014/main" id="{5EA2945D-A44A-9300-E1FD-B98454938213}"/>
              </a:ext>
            </a:extLst>
          </p:cNvPr>
          <p:cNvSpPr/>
          <p:nvPr/>
        </p:nvSpPr>
        <p:spPr bwMode="auto">
          <a:xfrm>
            <a:off x="446049" y="4795024"/>
            <a:ext cx="1293541" cy="1048215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251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A97CF3-766C-4EFF-8654-BED7074644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Componente Exemplo1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515A694-F251-4642-8208-DCB892D2AE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00556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1564E9DF-EEBD-4B74-B7F0-73CCBC41E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dirty="0"/>
              <a:t>Crie um componente </a:t>
            </a:r>
            <a:r>
              <a:rPr lang="pt-BR" sz="2800" dirty="0" err="1"/>
              <a:t>React</a:t>
            </a:r>
            <a:r>
              <a:rPr lang="pt-BR" sz="2800" dirty="0"/>
              <a:t> chamado </a:t>
            </a:r>
            <a:r>
              <a:rPr lang="pt-BR" sz="2800" dirty="0">
                <a:solidFill>
                  <a:srgbClr val="FF0000"/>
                </a:solidFill>
              </a:rPr>
              <a:t>Exemplo1</a:t>
            </a:r>
            <a:r>
              <a:rPr lang="pt-BR" sz="2800" dirty="0"/>
              <a:t> que receba dois valores por </a:t>
            </a:r>
            <a:r>
              <a:rPr lang="pt-BR" sz="2800" dirty="0" err="1"/>
              <a:t>props</a:t>
            </a:r>
            <a:r>
              <a:rPr lang="pt-BR" sz="2800" dirty="0"/>
              <a:t>, chamados </a:t>
            </a:r>
            <a:r>
              <a:rPr lang="pt-BR" sz="2800" dirty="0">
                <a:solidFill>
                  <a:srgbClr val="FF0000"/>
                </a:solidFill>
              </a:rPr>
              <a:t>numero1</a:t>
            </a:r>
            <a:r>
              <a:rPr lang="pt-BR" sz="2800" dirty="0"/>
              <a:t> e </a:t>
            </a:r>
            <a:r>
              <a:rPr lang="pt-BR" sz="2800" dirty="0">
                <a:solidFill>
                  <a:srgbClr val="FF0000"/>
                </a:solidFill>
              </a:rPr>
              <a:t>numero2</a:t>
            </a:r>
            <a:r>
              <a:rPr lang="pt-BR" sz="2800" dirty="0"/>
              <a:t>.</a:t>
            </a:r>
          </a:p>
          <a:p>
            <a:pPr lvl="1"/>
            <a:r>
              <a:rPr lang="pt-BR" sz="2400" dirty="0"/>
              <a:t>O componente deve realizar as seguintes etapas:</a:t>
            </a:r>
          </a:p>
          <a:p>
            <a:pPr lvl="2"/>
            <a:r>
              <a:rPr lang="pt-BR" sz="2000" dirty="0"/>
              <a:t>Receber os valores pelas </a:t>
            </a:r>
            <a:r>
              <a:rPr lang="pt-BR" sz="2000" dirty="0" err="1"/>
              <a:t>props</a:t>
            </a:r>
            <a:endParaRPr lang="pt-BR" sz="2000" dirty="0"/>
          </a:p>
          <a:p>
            <a:pPr lvl="2"/>
            <a:r>
              <a:rPr lang="pt-BR" sz="2000" dirty="0"/>
              <a:t>O componente receberá numero1 e numero2 como propriedades.</a:t>
            </a:r>
          </a:p>
          <a:p>
            <a:pPr lvl="2"/>
            <a:r>
              <a:rPr lang="pt-BR" sz="2000" dirty="0"/>
              <a:t>Converter os valores para número</a:t>
            </a:r>
          </a:p>
          <a:p>
            <a:pPr lvl="2"/>
            <a:r>
              <a:rPr lang="pt-BR" sz="2000" dirty="0"/>
              <a:t>Como </a:t>
            </a:r>
            <a:r>
              <a:rPr lang="pt-BR" sz="2000" dirty="0" err="1"/>
              <a:t>props</a:t>
            </a:r>
            <a:r>
              <a:rPr lang="pt-BR" sz="2000" dirty="0"/>
              <a:t> podem vir como </a:t>
            </a:r>
            <a:r>
              <a:rPr lang="pt-BR" sz="2000" dirty="0" err="1"/>
              <a:t>string</a:t>
            </a:r>
            <a:r>
              <a:rPr lang="pt-BR" sz="2000" dirty="0"/>
              <a:t>, converta os valores para o tipo numérico.</a:t>
            </a:r>
          </a:p>
          <a:p>
            <a:pPr lvl="2"/>
            <a:r>
              <a:rPr lang="pt-BR" sz="2000" dirty="0"/>
              <a:t>Calcular a soma</a:t>
            </a:r>
          </a:p>
          <a:p>
            <a:pPr lvl="2"/>
            <a:r>
              <a:rPr lang="pt-BR" sz="2000" dirty="0"/>
              <a:t>Após a conversão, faça a soma entre os dois números.</a:t>
            </a:r>
          </a:p>
          <a:p>
            <a:pPr lvl="1"/>
            <a:endParaRPr lang="pt-BR" sz="240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84671F8-4D0C-4A2F-A579-42ED58129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Componente Exemplo1</a:t>
            </a:r>
          </a:p>
        </p:txBody>
      </p:sp>
    </p:spTree>
    <p:extLst>
      <p:ext uri="{BB962C8B-B14F-4D97-AF65-F5344CB8AC3E}">
        <p14:creationId xmlns:p14="http://schemas.microsoft.com/office/powerpoint/2010/main" val="6692378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1564E9DF-EEBD-4B74-B7F0-73CCBC41E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dirty="0"/>
              <a:t>Crie um componente </a:t>
            </a:r>
            <a:r>
              <a:rPr lang="pt-BR" sz="2800" dirty="0" err="1"/>
              <a:t>React</a:t>
            </a:r>
            <a:r>
              <a:rPr lang="pt-BR" sz="2800" dirty="0"/>
              <a:t> chamado </a:t>
            </a:r>
            <a:r>
              <a:rPr lang="pt-BR" sz="2800" dirty="0">
                <a:solidFill>
                  <a:srgbClr val="FF0000"/>
                </a:solidFill>
              </a:rPr>
              <a:t>Exemplo1</a:t>
            </a:r>
            <a:r>
              <a:rPr lang="pt-BR" sz="2800" dirty="0"/>
              <a:t> que receba dois valores por </a:t>
            </a:r>
            <a:r>
              <a:rPr lang="pt-BR" sz="2800" dirty="0" err="1"/>
              <a:t>props</a:t>
            </a:r>
            <a:r>
              <a:rPr lang="pt-BR" sz="2800" dirty="0"/>
              <a:t>, chamados </a:t>
            </a:r>
            <a:r>
              <a:rPr lang="pt-BR" sz="2800" dirty="0">
                <a:solidFill>
                  <a:srgbClr val="FF0000"/>
                </a:solidFill>
              </a:rPr>
              <a:t>numero1</a:t>
            </a:r>
            <a:r>
              <a:rPr lang="pt-BR" sz="2800" dirty="0"/>
              <a:t> e </a:t>
            </a:r>
            <a:r>
              <a:rPr lang="pt-BR" sz="2800" dirty="0">
                <a:solidFill>
                  <a:srgbClr val="FF0000"/>
                </a:solidFill>
              </a:rPr>
              <a:t>numero2</a:t>
            </a:r>
            <a:r>
              <a:rPr lang="pt-BR" sz="2800" dirty="0"/>
              <a:t>.</a:t>
            </a:r>
          </a:p>
          <a:p>
            <a:pPr lvl="1"/>
            <a:r>
              <a:rPr lang="pt-BR" sz="2400" dirty="0"/>
              <a:t>O componente deverá exibir as informações na tela</a:t>
            </a:r>
          </a:p>
          <a:p>
            <a:pPr lvl="2"/>
            <a:r>
              <a:rPr lang="pt-BR" sz="1800" dirty="0"/>
              <a:t>O componente deve mostrar:</a:t>
            </a:r>
          </a:p>
          <a:p>
            <a:pPr lvl="2"/>
            <a:r>
              <a:rPr lang="pt-BR" sz="1800" dirty="0"/>
              <a:t>O valor do Número 1</a:t>
            </a:r>
          </a:p>
          <a:p>
            <a:pPr lvl="2"/>
            <a:r>
              <a:rPr lang="pt-BR" sz="1800" dirty="0"/>
              <a:t>O valor do Número 2</a:t>
            </a:r>
          </a:p>
          <a:p>
            <a:pPr lvl="2"/>
            <a:r>
              <a:rPr lang="pt-BR" sz="1800" dirty="0"/>
              <a:t>O resultado da soma</a:t>
            </a:r>
          </a:p>
          <a:p>
            <a:pPr lvl="1"/>
            <a:endParaRPr lang="pt-BR" sz="2400" dirty="0"/>
          </a:p>
          <a:p>
            <a:pPr lvl="1"/>
            <a:r>
              <a:rPr lang="pt-BR" sz="2400" dirty="0"/>
              <a:t>Usar JSX</a:t>
            </a:r>
          </a:p>
          <a:p>
            <a:pPr lvl="1"/>
            <a:endParaRPr lang="pt-BR" sz="2400" dirty="0"/>
          </a:p>
          <a:p>
            <a:pPr lvl="1"/>
            <a:r>
              <a:rPr lang="pt-BR" sz="2400" dirty="0"/>
              <a:t>Todas as informações devem ser exibidas dentro de um elemento &lt;p&gt; utilizando JSX.</a:t>
            </a:r>
          </a:p>
          <a:p>
            <a:pPr lvl="1"/>
            <a:endParaRPr lang="pt-BR" sz="240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84671F8-4D0C-4A2F-A579-42ED58129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Componente Exemplo1</a:t>
            </a:r>
          </a:p>
        </p:txBody>
      </p:sp>
    </p:spTree>
    <p:extLst>
      <p:ext uri="{BB962C8B-B14F-4D97-AF65-F5344CB8AC3E}">
        <p14:creationId xmlns:p14="http://schemas.microsoft.com/office/powerpoint/2010/main" val="20798083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2F15A62-141C-41C6-93F6-DE2C0ADCDC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823" y="324628"/>
            <a:ext cx="6024386" cy="6076171"/>
          </a:xfrm>
          <a:prstGeom prst="rect">
            <a:avLst/>
          </a:prstGeom>
        </p:spPr>
      </p:pic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A8BCE5F2-8DE5-41A2-8F2B-6B673F930801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651760" y="3634741"/>
            <a:ext cx="4880610" cy="32003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D3B535B6-30AD-4E05-BEA4-B2540C0F6526}"/>
              </a:ext>
            </a:extLst>
          </p:cNvPr>
          <p:cNvSpPr/>
          <p:nvPr/>
        </p:nvSpPr>
        <p:spPr bwMode="auto">
          <a:xfrm>
            <a:off x="7292340" y="3051810"/>
            <a:ext cx="3566160" cy="2114550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800" dirty="0">
                <a:solidFill>
                  <a:schemeClr val="tx1"/>
                </a:solidFill>
                <a:latin typeface="Arial" charset="0"/>
              </a:rPr>
              <a:t>Selecione a pasta </a:t>
            </a:r>
            <a:r>
              <a:rPr lang="pt-BR" sz="3200" b="1" dirty="0">
                <a:solidFill>
                  <a:schemeClr val="tx1"/>
                </a:solidFill>
                <a:latin typeface="Arial" charset="0"/>
              </a:rPr>
              <a:t>SRC</a:t>
            </a:r>
            <a:endParaRPr lang="pt-BR" sz="2800" b="1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1473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2F15A62-141C-41C6-93F6-DE2C0ADCDC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823" y="324628"/>
            <a:ext cx="6024386" cy="6076171"/>
          </a:xfrm>
          <a:prstGeom prst="rect">
            <a:avLst/>
          </a:prstGeom>
        </p:spPr>
      </p:pic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A8BCE5F2-8DE5-41A2-8F2B-6B673F930801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220586" y="1903229"/>
            <a:ext cx="2264735" cy="1818166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D3B535B6-30AD-4E05-BEA4-B2540C0F6526}"/>
              </a:ext>
            </a:extLst>
          </p:cNvPr>
          <p:cNvSpPr/>
          <p:nvPr/>
        </p:nvSpPr>
        <p:spPr bwMode="auto">
          <a:xfrm>
            <a:off x="7292340" y="3051810"/>
            <a:ext cx="3566160" cy="2114550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800" dirty="0">
                <a:solidFill>
                  <a:schemeClr val="tx1"/>
                </a:solidFill>
                <a:latin typeface="Arial" charset="0"/>
              </a:rPr>
              <a:t>Clique para criar o arquivo</a:t>
            </a:r>
            <a:endParaRPr lang="pt-BR" sz="2800" b="1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7072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CD380EB-9319-4DF3-80DD-A96D94BD2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590" y="395706"/>
            <a:ext cx="3872351" cy="5958466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25581B7F-FEA4-34DA-950B-C6A55A2F34DA}"/>
              </a:ext>
            </a:extLst>
          </p:cNvPr>
          <p:cNvSpPr/>
          <p:nvPr/>
        </p:nvSpPr>
        <p:spPr bwMode="auto">
          <a:xfrm>
            <a:off x="1163171" y="3254188"/>
            <a:ext cx="1674158" cy="396688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" name="Seta para a Direita 3">
            <a:extLst>
              <a:ext uri="{FF2B5EF4-FFF2-40B4-BE49-F238E27FC236}">
                <a16:creationId xmlns:a16="http://schemas.microsoft.com/office/drawing/2014/main" id="{EAF5C3AC-A0A9-EE85-B7AE-8C3EBC5B4697}"/>
              </a:ext>
            </a:extLst>
          </p:cNvPr>
          <p:cNvSpPr/>
          <p:nvPr/>
        </p:nvSpPr>
        <p:spPr bwMode="auto">
          <a:xfrm>
            <a:off x="127747" y="3032312"/>
            <a:ext cx="872843" cy="800100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" name="Seta: para a Esquerda 4">
            <a:extLst>
              <a:ext uri="{FF2B5EF4-FFF2-40B4-BE49-F238E27FC236}">
                <a16:creationId xmlns:a16="http://schemas.microsoft.com/office/drawing/2014/main" id="{32A432F0-8A5F-406E-8E89-AF2C5D3397A1}"/>
              </a:ext>
            </a:extLst>
          </p:cNvPr>
          <p:cNvSpPr/>
          <p:nvPr/>
        </p:nvSpPr>
        <p:spPr bwMode="auto">
          <a:xfrm>
            <a:off x="3444949" y="2402958"/>
            <a:ext cx="5316279" cy="2211572"/>
          </a:xfrm>
          <a:prstGeom prst="lef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800" dirty="0">
                <a:solidFill>
                  <a:schemeClr val="tx1"/>
                </a:solidFill>
                <a:latin typeface="Arial" charset="0"/>
              </a:rPr>
              <a:t>Digite o nome do arquivo</a:t>
            </a:r>
          </a:p>
          <a:p>
            <a:pPr algn="ctr"/>
            <a:r>
              <a:rPr lang="pt-BR" sz="2800" b="1" dirty="0">
                <a:solidFill>
                  <a:schemeClr val="tx1"/>
                </a:solidFill>
                <a:latin typeface="Arial" charset="0"/>
              </a:rPr>
              <a:t>Exemplo1.jsx</a:t>
            </a:r>
          </a:p>
        </p:txBody>
      </p:sp>
    </p:spTree>
    <p:extLst>
      <p:ext uri="{BB962C8B-B14F-4D97-AF65-F5344CB8AC3E}">
        <p14:creationId xmlns:p14="http://schemas.microsoft.com/office/powerpoint/2010/main" val="23053899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7D71E1B-4560-4398-A00A-7745F1EEA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24" y="1612488"/>
            <a:ext cx="11185751" cy="4721404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FE002774-1390-3AC6-5128-CFC7CC28D955}"/>
              </a:ext>
            </a:extLst>
          </p:cNvPr>
          <p:cNvSpPr/>
          <p:nvPr/>
        </p:nvSpPr>
        <p:spPr bwMode="auto">
          <a:xfrm>
            <a:off x="7605132" y="2609385"/>
            <a:ext cx="3300761" cy="819615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" name="Seta para Baixo 3">
            <a:extLst>
              <a:ext uri="{FF2B5EF4-FFF2-40B4-BE49-F238E27FC236}">
                <a16:creationId xmlns:a16="http://schemas.microsoft.com/office/drawing/2014/main" id="{700E9026-370E-B023-EA07-263755DFC0B8}"/>
              </a:ext>
            </a:extLst>
          </p:cNvPr>
          <p:cNvSpPr/>
          <p:nvPr/>
        </p:nvSpPr>
        <p:spPr bwMode="auto">
          <a:xfrm>
            <a:off x="8720253" y="820751"/>
            <a:ext cx="1070517" cy="1583473"/>
          </a:xfrm>
          <a:prstGeom prst="down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4EB33EC6-3E98-43E9-9767-1C723771F2DA}"/>
              </a:ext>
            </a:extLst>
          </p:cNvPr>
          <p:cNvSpPr/>
          <p:nvPr/>
        </p:nvSpPr>
        <p:spPr bwMode="auto">
          <a:xfrm>
            <a:off x="8165804" y="4220737"/>
            <a:ext cx="2179674" cy="1286539"/>
          </a:xfrm>
          <a:prstGeom prst="ellipse">
            <a:avLst/>
          </a:prstGeom>
          <a:ln w="19050">
            <a:solidFill>
              <a:schemeClr val="accent3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dirty="0">
                <a:solidFill>
                  <a:schemeClr val="tx1"/>
                </a:solidFill>
                <a:latin typeface="Arial" charset="0"/>
              </a:rPr>
              <a:t>Note a presença das chaves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B08E6B2E-C3F0-42CC-A7B0-4990E21A020A}"/>
              </a:ext>
            </a:extLst>
          </p:cNvPr>
          <p:cNvCxnSpPr>
            <a:stCxn id="5" idx="0"/>
          </p:cNvCxnSpPr>
          <p:nvPr/>
        </p:nvCxnSpPr>
        <p:spPr bwMode="auto">
          <a:xfrm flipH="1" flipV="1">
            <a:off x="7878726" y="3213400"/>
            <a:ext cx="1376915" cy="100733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504940DB-4235-4FF2-8046-9321D974035A}"/>
              </a:ext>
            </a:extLst>
          </p:cNvPr>
          <p:cNvCxnSpPr>
            <a:stCxn id="5" idx="0"/>
          </p:cNvCxnSpPr>
          <p:nvPr/>
        </p:nvCxnSpPr>
        <p:spPr bwMode="auto">
          <a:xfrm flipV="1">
            <a:off x="9255641" y="3195961"/>
            <a:ext cx="1353286" cy="10247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71625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8E3DE86A-0C5D-488F-BBE8-A3E8ABBC3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038" y="278132"/>
            <a:ext cx="8964439" cy="6301735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63500650-EAD5-5BF3-0471-B4C7D17FAB97}"/>
              </a:ext>
            </a:extLst>
          </p:cNvPr>
          <p:cNvSpPr/>
          <p:nvPr/>
        </p:nvSpPr>
        <p:spPr bwMode="auto">
          <a:xfrm>
            <a:off x="2190316" y="1683250"/>
            <a:ext cx="6530774" cy="751340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07CC78D-0684-1E31-4804-7E9B60A45276}"/>
              </a:ext>
            </a:extLst>
          </p:cNvPr>
          <p:cNvSpPr/>
          <p:nvPr/>
        </p:nvSpPr>
        <p:spPr bwMode="auto">
          <a:xfrm>
            <a:off x="3326130" y="3308470"/>
            <a:ext cx="4457700" cy="1675009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" name="Seta para a Esquerda 3">
            <a:extLst>
              <a:ext uri="{FF2B5EF4-FFF2-40B4-BE49-F238E27FC236}">
                <a16:creationId xmlns:a16="http://schemas.microsoft.com/office/drawing/2014/main" id="{6C52E23B-71E2-694F-C0B6-E2F301B1306D}"/>
              </a:ext>
            </a:extLst>
          </p:cNvPr>
          <p:cNvSpPr/>
          <p:nvPr/>
        </p:nvSpPr>
        <p:spPr bwMode="auto">
          <a:xfrm>
            <a:off x="8195290" y="3308471"/>
            <a:ext cx="1717287" cy="1198757"/>
          </a:xfrm>
          <a:prstGeom prst="lef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" name="Seta para a Esquerda 4">
            <a:extLst>
              <a:ext uri="{FF2B5EF4-FFF2-40B4-BE49-F238E27FC236}">
                <a16:creationId xmlns:a16="http://schemas.microsoft.com/office/drawing/2014/main" id="{D13DB712-C038-8458-AF1D-7B730D026D43}"/>
              </a:ext>
            </a:extLst>
          </p:cNvPr>
          <p:cNvSpPr/>
          <p:nvPr/>
        </p:nvSpPr>
        <p:spPr bwMode="auto">
          <a:xfrm>
            <a:off x="8891083" y="1459541"/>
            <a:ext cx="1717287" cy="1198757"/>
          </a:xfrm>
          <a:prstGeom prst="lef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5184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62BF597-46AF-4E95-BB71-2CA2254DFB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4033"/>
          <a:stretch/>
        </p:blipFill>
        <p:spPr>
          <a:xfrm>
            <a:off x="565045" y="420822"/>
            <a:ext cx="2806805" cy="6040437"/>
          </a:xfrm>
          <a:prstGeom prst="rect">
            <a:avLst/>
          </a:prstGeom>
        </p:spPr>
      </p:pic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4FAFFB63-ADB5-4AE2-9723-3435E3562842}"/>
              </a:ext>
            </a:extLst>
          </p:cNvPr>
          <p:cNvCxnSpPr>
            <a:cxnSpLocks/>
          </p:cNvCxnSpPr>
          <p:nvPr/>
        </p:nvCxnSpPr>
        <p:spPr bwMode="auto">
          <a:xfrm flipV="1">
            <a:off x="2190307" y="3746812"/>
            <a:ext cx="2816033" cy="42115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F1FC8F69-4733-480C-A4E7-70245F3C0288}"/>
              </a:ext>
            </a:extLst>
          </p:cNvPr>
          <p:cNvSpPr/>
          <p:nvPr/>
        </p:nvSpPr>
        <p:spPr bwMode="auto">
          <a:xfrm>
            <a:off x="4840259" y="2757949"/>
            <a:ext cx="3653789" cy="1977723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3200" dirty="0">
                <a:solidFill>
                  <a:schemeClr val="tx1"/>
                </a:solidFill>
                <a:latin typeface="Arial" charset="0"/>
              </a:rPr>
              <a:t>Clique 2x no </a:t>
            </a:r>
            <a:r>
              <a:rPr lang="pt-BR" sz="3200" b="1" dirty="0" err="1">
                <a:solidFill>
                  <a:schemeClr val="tx1"/>
                </a:solidFill>
                <a:latin typeface="Arial" charset="0"/>
              </a:rPr>
              <a:t>App.jsx</a:t>
            </a:r>
            <a:endParaRPr lang="pt-BR" sz="3200" b="1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9C4F1A96-9EB2-47DE-9316-7D0EA37BB99E}"/>
              </a:ext>
            </a:extLst>
          </p:cNvPr>
          <p:cNvSpPr/>
          <p:nvPr/>
        </p:nvSpPr>
        <p:spPr bwMode="auto">
          <a:xfrm>
            <a:off x="818707" y="3817088"/>
            <a:ext cx="1669312" cy="669852"/>
          </a:xfrm>
          <a:prstGeom prst="ellipse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66135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A3A64EB-F38D-444F-B113-7194A1965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781" y="1081635"/>
            <a:ext cx="13625858" cy="8372518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E6843E73-4890-4C2C-A3D2-36CBB1DC2E76}"/>
              </a:ext>
            </a:extLst>
          </p:cNvPr>
          <p:cNvSpPr/>
          <p:nvPr/>
        </p:nvSpPr>
        <p:spPr bwMode="auto">
          <a:xfrm>
            <a:off x="1672119" y="2907857"/>
            <a:ext cx="1886674" cy="671331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27F685C-23F5-3A26-9D68-F78195B72699}"/>
              </a:ext>
            </a:extLst>
          </p:cNvPr>
          <p:cNvSpPr/>
          <p:nvPr/>
        </p:nvSpPr>
        <p:spPr bwMode="auto">
          <a:xfrm>
            <a:off x="3902927" y="2966224"/>
            <a:ext cx="7426712" cy="691376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0652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29FD0A0-7DC8-4F94-B44B-E8875081E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00" y="-1042354"/>
            <a:ext cx="10963890" cy="9211298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41BF755D-EF11-46B5-B632-BA006BC971AC}"/>
              </a:ext>
            </a:extLst>
          </p:cNvPr>
          <p:cNvSpPr/>
          <p:nvPr/>
        </p:nvSpPr>
        <p:spPr bwMode="auto">
          <a:xfrm>
            <a:off x="3002078" y="3429000"/>
            <a:ext cx="7792302" cy="2793380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659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A0EC3A0-F3BC-4A41-971D-978FF5353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390650"/>
            <a:ext cx="6858000" cy="4076700"/>
          </a:xfrm>
          <a:prstGeom prst="rect">
            <a:avLst/>
          </a:prstGeom>
        </p:spPr>
      </p:pic>
      <p:sp>
        <p:nvSpPr>
          <p:cNvPr id="2" name="Elipse 1">
            <a:extLst>
              <a:ext uri="{FF2B5EF4-FFF2-40B4-BE49-F238E27FC236}">
                <a16:creationId xmlns:a16="http://schemas.microsoft.com/office/drawing/2014/main" id="{9CA8E636-302A-4A02-828B-56ABA67AF12C}"/>
              </a:ext>
            </a:extLst>
          </p:cNvPr>
          <p:cNvSpPr/>
          <p:nvPr/>
        </p:nvSpPr>
        <p:spPr bwMode="auto">
          <a:xfrm>
            <a:off x="9186530" y="4167963"/>
            <a:ext cx="2094614" cy="1299387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dirty="0">
                <a:solidFill>
                  <a:schemeClr val="tx1"/>
                </a:solidFill>
                <a:latin typeface="Arial" charset="0"/>
              </a:rPr>
              <a:t>Resultado</a:t>
            </a:r>
          </a:p>
        </p:txBody>
      </p:sp>
    </p:spTree>
    <p:extLst>
      <p:ext uri="{BB962C8B-B14F-4D97-AF65-F5344CB8AC3E}">
        <p14:creationId xmlns:p14="http://schemas.microsoft.com/office/powerpoint/2010/main" val="4473058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6AE73F2-E549-4E84-83CE-7BEF0A649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550" y="-1627792"/>
            <a:ext cx="10378899" cy="9678972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75392332-0D00-A45C-46D7-49A12D80626F}"/>
              </a:ext>
            </a:extLst>
          </p:cNvPr>
          <p:cNvSpPr/>
          <p:nvPr/>
        </p:nvSpPr>
        <p:spPr bwMode="auto">
          <a:xfrm>
            <a:off x="3389971" y="4259766"/>
            <a:ext cx="7181385" cy="981307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8695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A9ACE39-11CF-46A9-8F72-6ADE4EC62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678" y="751998"/>
            <a:ext cx="6684645" cy="5354003"/>
          </a:xfrm>
          <a:prstGeom prst="rect">
            <a:avLst/>
          </a:prstGeom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64C1961B-B410-4C81-A7B6-9100DBC9AABF}"/>
              </a:ext>
            </a:extLst>
          </p:cNvPr>
          <p:cNvSpPr/>
          <p:nvPr/>
        </p:nvSpPr>
        <p:spPr bwMode="auto">
          <a:xfrm>
            <a:off x="9186530" y="4167963"/>
            <a:ext cx="2094614" cy="1299387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dirty="0">
                <a:solidFill>
                  <a:schemeClr val="tx1"/>
                </a:solidFill>
                <a:latin typeface="Arial" charset="0"/>
              </a:rPr>
              <a:t>Resultado</a:t>
            </a:r>
          </a:p>
        </p:txBody>
      </p:sp>
    </p:spTree>
    <p:extLst>
      <p:ext uri="{BB962C8B-B14F-4D97-AF65-F5344CB8AC3E}">
        <p14:creationId xmlns:p14="http://schemas.microsoft.com/office/powerpoint/2010/main" val="36505150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1">
            <a:extLst>
              <a:ext uri="{FF2B5EF4-FFF2-40B4-BE49-F238E27FC236}">
                <a16:creationId xmlns:a16="http://schemas.microsoft.com/office/drawing/2014/main" id="{20D0C601-E094-426F-9420-36A7CFDA98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1E84B58-1E1F-42CE-A2D2-A0ABC0F2AB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Componente Exemplo2</a:t>
            </a:r>
          </a:p>
        </p:txBody>
      </p:sp>
    </p:spTree>
    <p:extLst>
      <p:ext uri="{BB962C8B-B14F-4D97-AF65-F5344CB8AC3E}">
        <p14:creationId xmlns:p14="http://schemas.microsoft.com/office/powerpoint/2010/main" val="19888156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B68C0BD-D12E-4D97-87A6-7D1AE43DF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464" y="440254"/>
            <a:ext cx="5783437" cy="5938457"/>
          </a:xfrm>
          <a:prstGeom prst="rect">
            <a:avLst/>
          </a:prstGeom>
        </p:spPr>
      </p:pic>
      <p:sp>
        <p:nvSpPr>
          <p:cNvPr id="4" name="Seta: para a Esquerda 3">
            <a:extLst>
              <a:ext uri="{FF2B5EF4-FFF2-40B4-BE49-F238E27FC236}">
                <a16:creationId xmlns:a16="http://schemas.microsoft.com/office/drawing/2014/main" id="{2FD627E9-7851-4669-AFD0-AD45D610EC1B}"/>
              </a:ext>
            </a:extLst>
          </p:cNvPr>
          <p:cNvSpPr/>
          <p:nvPr/>
        </p:nvSpPr>
        <p:spPr bwMode="auto">
          <a:xfrm>
            <a:off x="2360428" y="2509284"/>
            <a:ext cx="5316279" cy="2211572"/>
          </a:xfrm>
          <a:prstGeom prst="lef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800" dirty="0">
                <a:solidFill>
                  <a:schemeClr val="tx1"/>
                </a:solidFill>
                <a:latin typeface="Arial" charset="0"/>
              </a:rPr>
              <a:t>Crie o arquivo</a:t>
            </a:r>
          </a:p>
          <a:p>
            <a:pPr algn="ctr"/>
            <a:r>
              <a:rPr lang="pt-BR" sz="2800" b="1" dirty="0">
                <a:solidFill>
                  <a:schemeClr val="tx1"/>
                </a:solidFill>
                <a:latin typeface="Arial" charset="0"/>
              </a:rPr>
              <a:t>Exemplo2.jsx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795AEFC7-9F76-4563-AD3B-3545F15349BB}"/>
              </a:ext>
            </a:extLst>
          </p:cNvPr>
          <p:cNvSpPr/>
          <p:nvPr/>
        </p:nvSpPr>
        <p:spPr bwMode="auto">
          <a:xfrm>
            <a:off x="585464" y="3285460"/>
            <a:ext cx="1689903" cy="606056"/>
          </a:xfrm>
          <a:prstGeom prst="ellipse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2005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75E1F3D-3349-4B21-BD80-462DCBEF1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772" y="423360"/>
            <a:ext cx="10628656" cy="5889471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4421610A-40C0-4D87-9C4D-066B32C7328D}"/>
              </a:ext>
            </a:extLst>
          </p:cNvPr>
          <p:cNvSpPr/>
          <p:nvPr/>
        </p:nvSpPr>
        <p:spPr bwMode="auto">
          <a:xfrm>
            <a:off x="1988288" y="1626781"/>
            <a:ext cx="9069572" cy="4433777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49C39CD-40B8-4E29-B779-9BD1C495C728}"/>
              </a:ext>
            </a:extLst>
          </p:cNvPr>
          <p:cNvSpPr/>
          <p:nvPr/>
        </p:nvSpPr>
        <p:spPr bwMode="auto">
          <a:xfrm>
            <a:off x="2806995" y="2328530"/>
            <a:ext cx="5741582" cy="733647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718C7A9-233E-4ABF-8A57-B406AFE61065}"/>
              </a:ext>
            </a:extLst>
          </p:cNvPr>
          <p:cNvSpPr/>
          <p:nvPr/>
        </p:nvSpPr>
        <p:spPr bwMode="auto">
          <a:xfrm>
            <a:off x="2806995" y="3285460"/>
            <a:ext cx="2020186" cy="2392326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844832F0-1FD8-4211-87DD-47A88FBDA886}"/>
              </a:ext>
            </a:extLst>
          </p:cNvPr>
          <p:cNvSpPr/>
          <p:nvPr/>
        </p:nvSpPr>
        <p:spPr bwMode="auto">
          <a:xfrm>
            <a:off x="8165804" y="4220737"/>
            <a:ext cx="2179674" cy="1286539"/>
          </a:xfrm>
          <a:prstGeom prst="ellipse">
            <a:avLst/>
          </a:prstGeom>
          <a:ln w="19050">
            <a:solidFill>
              <a:schemeClr val="accent3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dirty="0">
                <a:solidFill>
                  <a:schemeClr val="tx1"/>
                </a:solidFill>
                <a:latin typeface="Arial" charset="0"/>
              </a:rPr>
              <a:t>Note a presença das chaves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6F6D7363-8F40-4342-9A71-DB8D2932D33E}"/>
              </a:ext>
            </a:extLst>
          </p:cNvPr>
          <p:cNvCxnSpPr>
            <a:cxnSpLocks/>
            <a:stCxn id="6" idx="0"/>
          </p:cNvCxnSpPr>
          <p:nvPr/>
        </p:nvCxnSpPr>
        <p:spPr bwMode="auto">
          <a:xfrm flipH="1" flipV="1">
            <a:off x="8399721" y="1988288"/>
            <a:ext cx="855920" cy="223244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90BBD908-8240-4DD5-8B61-819A99585FAF}"/>
              </a:ext>
            </a:extLst>
          </p:cNvPr>
          <p:cNvCxnSpPr>
            <a:cxnSpLocks/>
            <a:stCxn id="6" idx="0"/>
          </p:cNvCxnSpPr>
          <p:nvPr/>
        </p:nvCxnSpPr>
        <p:spPr bwMode="auto">
          <a:xfrm flipV="1">
            <a:off x="9255641" y="2083981"/>
            <a:ext cx="1174899" cy="213675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25466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2738500-F263-4B2D-A863-94FC54B54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74" y="939720"/>
            <a:ext cx="11796653" cy="4978559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F165D7EC-D990-BD89-D5EB-6D5175DBC35A}"/>
              </a:ext>
            </a:extLst>
          </p:cNvPr>
          <p:cNvSpPr/>
          <p:nvPr/>
        </p:nvSpPr>
        <p:spPr bwMode="auto">
          <a:xfrm>
            <a:off x="5687122" y="1739590"/>
            <a:ext cx="1806498" cy="557561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722D10F-6869-AECF-3EAB-21E749C2B570}"/>
              </a:ext>
            </a:extLst>
          </p:cNvPr>
          <p:cNvSpPr/>
          <p:nvPr/>
        </p:nvSpPr>
        <p:spPr bwMode="auto">
          <a:xfrm>
            <a:off x="1784195" y="2341756"/>
            <a:ext cx="4311805" cy="602166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1456059-17A7-24EF-BFC8-D2071240791E}"/>
              </a:ext>
            </a:extLst>
          </p:cNvPr>
          <p:cNvSpPr/>
          <p:nvPr/>
        </p:nvSpPr>
        <p:spPr bwMode="auto">
          <a:xfrm>
            <a:off x="2787805" y="3724507"/>
            <a:ext cx="8965580" cy="1092820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6913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62BF597-46AF-4E95-BB71-2CA2254DFB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4033"/>
          <a:stretch/>
        </p:blipFill>
        <p:spPr>
          <a:xfrm>
            <a:off x="565045" y="420822"/>
            <a:ext cx="2806805" cy="6040437"/>
          </a:xfrm>
          <a:prstGeom prst="rect">
            <a:avLst/>
          </a:prstGeom>
        </p:spPr>
      </p:pic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4FAFFB63-ADB5-4AE2-9723-3435E3562842}"/>
              </a:ext>
            </a:extLst>
          </p:cNvPr>
          <p:cNvCxnSpPr>
            <a:cxnSpLocks/>
          </p:cNvCxnSpPr>
          <p:nvPr/>
        </p:nvCxnSpPr>
        <p:spPr bwMode="auto">
          <a:xfrm flipV="1">
            <a:off x="2190307" y="3746812"/>
            <a:ext cx="2816033" cy="42115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F1FC8F69-4733-480C-A4E7-70245F3C0288}"/>
              </a:ext>
            </a:extLst>
          </p:cNvPr>
          <p:cNvSpPr/>
          <p:nvPr/>
        </p:nvSpPr>
        <p:spPr bwMode="auto">
          <a:xfrm>
            <a:off x="4840259" y="2757949"/>
            <a:ext cx="3653789" cy="1977723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3200" dirty="0">
                <a:solidFill>
                  <a:schemeClr val="tx1"/>
                </a:solidFill>
                <a:latin typeface="Arial" charset="0"/>
              </a:rPr>
              <a:t>Clique 2x no </a:t>
            </a:r>
            <a:r>
              <a:rPr lang="pt-BR" sz="3200" b="1" dirty="0" err="1">
                <a:solidFill>
                  <a:schemeClr val="tx1"/>
                </a:solidFill>
                <a:latin typeface="Arial" charset="0"/>
              </a:rPr>
              <a:t>App.jsx</a:t>
            </a:r>
            <a:endParaRPr lang="pt-BR" sz="3200" b="1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9C4F1A96-9EB2-47DE-9316-7D0EA37BB99E}"/>
              </a:ext>
            </a:extLst>
          </p:cNvPr>
          <p:cNvSpPr/>
          <p:nvPr/>
        </p:nvSpPr>
        <p:spPr bwMode="auto">
          <a:xfrm>
            <a:off x="818707" y="3817088"/>
            <a:ext cx="1669312" cy="669852"/>
          </a:xfrm>
          <a:prstGeom prst="ellipse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9614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DC102EA8-C564-4280-9639-72EE1D9C09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774" b="63972"/>
          <a:stretch/>
        </p:blipFill>
        <p:spPr>
          <a:xfrm>
            <a:off x="673084" y="448508"/>
            <a:ext cx="10506193" cy="5598332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7BA315AB-AAAA-434E-9186-A905A1F4B73F}"/>
              </a:ext>
            </a:extLst>
          </p:cNvPr>
          <p:cNvSpPr/>
          <p:nvPr/>
        </p:nvSpPr>
        <p:spPr bwMode="auto">
          <a:xfrm>
            <a:off x="2477729" y="3126658"/>
            <a:ext cx="8200103" cy="766915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37950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DC102EA8-C564-4280-9639-72EE1D9C09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863" y="183036"/>
            <a:ext cx="6834275" cy="6491927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7BA315AB-AAAA-434E-9186-A905A1F4B73F}"/>
              </a:ext>
            </a:extLst>
          </p:cNvPr>
          <p:cNvSpPr/>
          <p:nvPr/>
        </p:nvSpPr>
        <p:spPr bwMode="auto">
          <a:xfrm>
            <a:off x="3379808" y="1273215"/>
            <a:ext cx="3599726" cy="405114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20366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7A4691E-00E8-4B95-98E5-0CB9864F2C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6616" r="11198"/>
          <a:stretch/>
        </p:blipFill>
        <p:spPr>
          <a:xfrm>
            <a:off x="985251" y="683397"/>
            <a:ext cx="10221498" cy="5491206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04050D81-7EE1-427D-8D91-92BCB5398BED}"/>
              </a:ext>
            </a:extLst>
          </p:cNvPr>
          <p:cNvSpPr/>
          <p:nvPr/>
        </p:nvSpPr>
        <p:spPr bwMode="auto">
          <a:xfrm>
            <a:off x="3143834" y="1902728"/>
            <a:ext cx="4082876" cy="1961349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5727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7A4691E-00E8-4B95-98E5-0CB9864F2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595" y="363903"/>
            <a:ext cx="5574808" cy="6130193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04050D81-7EE1-427D-8D91-92BCB5398BED}"/>
              </a:ext>
            </a:extLst>
          </p:cNvPr>
          <p:cNvSpPr/>
          <p:nvPr/>
        </p:nvSpPr>
        <p:spPr bwMode="auto">
          <a:xfrm>
            <a:off x="4294208" y="4409954"/>
            <a:ext cx="1979270" cy="960699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9499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00A54A4-0186-4404-9811-CE5AFCA0F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782" y="645764"/>
            <a:ext cx="9477663" cy="5843526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6E718898-2D14-4ACE-BE2F-D6E81CC07BA2}"/>
              </a:ext>
            </a:extLst>
          </p:cNvPr>
          <p:cNvSpPr/>
          <p:nvPr/>
        </p:nvSpPr>
        <p:spPr bwMode="auto">
          <a:xfrm>
            <a:off x="2828260" y="2349795"/>
            <a:ext cx="7272670" cy="1318438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24145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0C33E98-6283-4170-BA52-1DD0C8862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5" y="647700"/>
            <a:ext cx="6076950" cy="5562600"/>
          </a:xfrm>
          <a:prstGeom prst="rect">
            <a:avLst/>
          </a:prstGeom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0E22C62A-87B9-4E18-8A45-A8B1ED95AFF0}"/>
              </a:ext>
            </a:extLst>
          </p:cNvPr>
          <p:cNvSpPr/>
          <p:nvPr/>
        </p:nvSpPr>
        <p:spPr bwMode="auto">
          <a:xfrm>
            <a:off x="8346558" y="4688958"/>
            <a:ext cx="2094614" cy="1299387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dirty="0">
                <a:solidFill>
                  <a:schemeClr val="tx1"/>
                </a:solidFill>
                <a:latin typeface="Arial" charset="0"/>
              </a:rPr>
              <a:t>Resultado</a:t>
            </a:r>
          </a:p>
        </p:txBody>
      </p:sp>
    </p:spTree>
    <p:extLst>
      <p:ext uri="{BB962C8B-B14F-4D97-AF65-F5344CB8AC3E}">
        <p14:creationId xmlns:p14="http://schemas.microsoft.com/office/powerpoint/2010/main" val="6746661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9BEB18C-B7FA-473B-BA75-99300F44C3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794" t="15665" r="2431" b="30593"/>
          <a:stretch/>
        </p:blipFill>
        <p:spPr>
          <a:xfrm>
            <a:off x="1775637" y="1733106"/>
            <a:ext cx="9643730" cy="4486941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C6A7F5E4-6F53-6AC5-417B-5F4C90AADB6B}"/>
              </a:ext>
            </a:extLst>
          </p:cNvPr>
          <p:cNvSpPr/>
          <p:nvPr/>
        </p:nvSpPr>
        <p:spPr bwMode="auto">
          <a:xfrm>
            <a:off x="2832410" y="3859618"/>
            <a:ext cx="7683190" cy="1939015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4095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9BEB18C-B7FA-473B-BA75-99300F44C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669" y="425260"/>
            <a:ext cx="7683190" cy="5838548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C6A7F5E4-6F53-6AC5-417B-5F4C90AADB6B}"/>
              </a:ext>
            </a:extLst>
          </p:cNvPr>
          <p:cNvSpPr/>
          <p:nvPr/>
        </p:nvSpPr>
        <p:spPr bwMode="auto">
          <a:xfrm>
            <a:off x="2200940" y="2775099"/>
            <a:ext cx="5401339" cy="1339702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1377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5E0E27E-A80A-4324-8E00-088AFA452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5" y="190500"/>
            <a:ext cx="6076950" cy="6477000"/>
          </a:xfrm>
          <a:prstGeom prst="rect">
            <a:avLst/>
          </a:prstGeom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46897F6C-F33E-4A2B-821C-BFE020837485}"/>
              </a:ext>
            </a:extLst>
          </p:cNvPr>
          <p:cNvSpPr/>
          <p:nvPr/>
        </p:nvSpPr>
        <p:spPr bwMode="auto">
          <a:xfrm>
            <a:off x="8569842" y="4667693"/>
            <a:ext cx="2094614" cy="1299387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dirty="0">
                <a:solidFill>
                  <a:schemeClr val="tx1"/>
                </a:solidFill>
                <a:latin typeface="Arial" charset="0"/>
              </a:rPr>
              <a:t>Resultado</a:t>
            </a:r>
          </a:p>
        </p:txBody>
      </p:sp>
    </p:spTree>
    <p:extLst>
      <p:ext uri="{BB962C8B-B14F-4D97-AF65-F5344CB8AC3E}">
        <p14:creationId xmlns:p14="http://schemas.microsoft.com/office/powerpoint/2010/main" val="124901587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69C940-4D6D-46D4-BBDB-83C62B585D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76BE890-73FB-425D-933A-2EA207F5ED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644613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6D4B70E-002A-4A5C-A429-22ADE898D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367" y="285327"/>
            <a:ext cx="3258005" cy="6058746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39C6F870-09CA-4CD4-AB83-3EBDA6570350}"/>
              </a:ext>
            </a:extLst>
          </p:cNvPr>
          <p:cNvSpPr/>
          <p:nvPr/>
        </p:nvSpPr>
        <p:spPr bwMode="auto">
          <a:xfrm>
            <a:off x="1291590" y="3851910"/>
            <a:ext cx="1405890" cy="1245870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" name="Seta: para a Esquerda 5">
            <a:extLst>
              <a:ext uri="{FF2B5EF4-FFF2-40B4-BE49-F238E27FC236}">
                <a16:creationId xmlns:a16="http://schemas.microsoft.com/office/drawing/2014/main" id="{D5728009-815D-410F-81B4-11841812F3BC}"/>
              </a:ext>
            </a:extLst>
          </p:cNvPr>
          <p:cNvSpPr/>
          <p:nvPr/>
        </p:nvSpPr>
        <p:spPr bwMode="auto">
          <a:xfrm>
            <a:off x="3028950" y="4126230"/>
            <a:ext cx="2971800" cy="742950"/>
          </a:xfrm>
          <a:prstGeom prst="lef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01381EC-5623-4E73-9A54-58C193601834}"/>
              </a:ext>
            </a:extLst>
          </p:cNvPr>
          <p:cNvSpPr/>
          <p:nvPr/>
        </p:nvSpPr>
        <p:spPr bwMode="auto">
          <a:xfrm>
            <a:off x="5212080" y="3623310"/>
            <a:ext cx="3258005" cy="2091690"/>
          </a:xfrm>
          <a:prstGeom prst="rect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b="1" dirty="0">
                <a:solidFill>
                  <a:schemeClr val="tx1"/>
                </a:solidFill>
                <a:latin typeface="Arial" charset="0"/>
              </a:rPr>
              <a:t>Crie 5 arquivos de Exercícios:</a:t>
            </a:r>
          </a:p>
          <a:p>
            <a:pPr algn="ctr"/>
            <a:r>
              <a:rPr lang="pt-BR" dirty="0">
                <a:solidFill>
                  <a:schemeClr val="tx1"/>
                </a:solidFill>
                <a:latin typeface="Arial" charset="0"/>
              </a:rPr>
              <a:t>Exercicio1.jsx</a:t>
            </a:r>
          </a:p>
          <a:p>
            <a:pPr algn="ctr"/>
            <a:r>
              <a:rPr lang="pt-BR" dirty="0">
                <a:solidFill>
                  <a:schemeClr val="tx1"/>
                </a:solidFill>
                <a:latin typeface="Arial" charset="0"/>
              </a:rPr>
              <a:t>Exercicio2.jsx</a:t>
            </a:r>
          </a:p>
          <a:p>
            <a:pPr algn="ctr"/>
            <a:r>
              <a:rPr lang="pt-BR" dirty="0">
                <a:solidFill>
                  <a:schemeClr val="tx1"/>
                </a:solidFill>
                <a:latin typeface="Arial" charset="0"/>
              </a:rPr>
              <a:t>Exercicio3.jsx</a:t>
            </a:r>
          </a:p>
          <a:p>
            <a:pPr algn="ctr"/>
            <a:r>
              <a:rPr lang="pt-BR" dirty="0">
                <a:solidFill>
                  <a:schemeClr val="tx1"/>
                </a:solidFill>
                <a:latin typeface="Arial" charset="0"/>
              </a:rPr>
              <a:t>Exercicio4.jsx</a:t>
            </a:r>
          </a:p>
          <a:p>
            <a:pPr algn="ctr"/>
            <a:r>
              <a:rPr lang="pt-BR" dirty="0">
                <a:solidFill>
                  <a:schemeClr val="tx1"/>
                </a:solidFill>
                <a:latin typeface="Arial" charset="0"/>
              </a:rPr>
              <a:t>Exercicio5.jsx</a:t>
            </a:r>
          </a:p>
        </p:txBody>
      </p:sp>
    </p:spTree>
    <p:extLst>
      <p:ext uri="{BB962C8B-B14F-4D97-AF65-F5344CB8AC3E}">
        <p14:creationId xmlns:p14="http://schemas.microsoft.com/office/powerpoint/2010/main" val="337257175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496F5F-C35E-5184-8A88-36773E3D73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87EA02-268A-2FEA-1427-298A7254F0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993241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496F5F-C35E-5184-8A88-36773E3D7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Componente: Exercicio1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C2777383-06EE-B672-8302-6BAD78AE3F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Crie um componente </a:t>
                </a:r>
                <a:r>
                  <a:rPr lang="pt-BR" dirty="0">
                    <a:highlight>
                      <a:srgbClr val="00FF00"/>
                    </a:highlight>
                  </a:rPr>
                  <a:t>Exercicio1</a:t>
                </a:r>
                <a:r>
                  <a:rPr lang="pt-BR" dirty="0"/>
                  <a:t> que deverá receber como </a:t>
                </a:r>
                <a:r>
                  <a:rPr lang="pt-BR" u="sng" dirty="0">
                    <a:solidFill>
                      <a:srgbClr val="FF0000"/>
                    </a:solidFill>
                  </a:rPr>
                  <a:t>único</a:t>
                </a:r>
                <a:r>
                  <a:rPr lang="pt-BR" dirty="0">
                    <a:solidFill>
                      <a:srgbClr val="FF0000"/>
                    </a:solidFill>
                  </a:rPr>
                  <a:t> parâmetro o temperatura em graus Fahrenheit</a:t>
                </a:r>
                <a:r>
                  <a:rPr lang="pt-BR" dirty="0"/>
                  <a:t>.</a:t>
                </a:r>
              </a:p>
              <a:p>
                <a:pPr lvl="1"/>
                <a:endParaRPr lang="pt-BR" dirty="0"/>
              </a:p>
              <a:p>
                <a:pPr lvl="1"/>
                <a:r>
                  <a:rPr lang="pt-BR" dirty="0"/>
                  <a:t>O componente deverá converter a temperatura de entrada para temperatura em Celsius utilize a formula a seguir: </a:t>
                </a:r>
              </a:p>
              <a:p>
                <a:pPr marL="449250" lvl="1" indent="0">
                  <a:buNone/>
                </a:pPr>
                <a:br>
                  <a:rPr lang="pt-BR" sz="3200" b="1" i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600" b="1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𝑪𝒆𝒍𝒔𝒊𝒖𝒔</m:t>
                      </m:r>
                      <m:r>
                        <a:rPr lang="pt-BR" sz="3600" b="1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sz="3600" b="1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pt-BR" sz="3600" b="1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3600" b="1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𝑭𝒂𝒉𝒓𝒆𝒏𝒉𝒆𝒊𝒕</m:t>
                              </m:r>
                              <m:r>
                                <a:rPr lang="pt-BR" sz="3600" b="1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3600" b="1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𝟑𝟐</m:t>
                              </m:r>
                            </m:e>
                          </m:d>
                          <m:r>
                            <a:rPr lang="pt-BR" sz="3600" b="1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pt-BR" sz="3600" b="1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pt-BR" sz="3600" b="1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𝟗</m:t>
                          </m:r>
                        </m:den>
                      </m:f>
                    </m:oMath>
                  </m:oMathPara>
                </a14:m>
                <a:endParaRPr lang="pt-BR" sz="3200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C2777383-06EE-B672-8302-6BAD78AE3F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1" t="-7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eta para a Direita 6">
            <a:extLst>
              <a:ext uri="{FF2B5EF4-FFF2-40B4-BE49-F238E27FC236}">
                <a16:creationId xmlns:a16="http://schemas.microsoft.com/office/drawing/2014/main" id="{D7F00D5B-4E87-EE12-C84E-46B86C817CCD}"/>
              </a:ext>
            </a:extLst>
          </p:cNvPr>
          <p:cNvSpPr/>
          <p:nvPr/>
        </p:nvSpPr>
        <p:spPr bwMode="auto">
          <a:xfrm>
            <a:off x="9317620" y="5278056"/>
            <a:ext cx="2493381" cy="1294193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dirty="0">
                <a:solidFill>
                  <a:schemeClr val="tx1"/>
                </a:solidFill>
                <a:latin typeface="Arial" charset="0"/>
              </a:rPr>
              <a:t>Continua no próximo slide</a:t>
            </a:r>
          </a:p>
        </p:txBody>
      </p:sp>
    </p:spTree>
    <p:extLst>
      <p:ext uri="{BB962C8B-B14F-4D97-AF65-F5344CB8AC3E}">
        <p14:creationId xmlns:p14="http://schemas.microsoft.com/office/powerpoint/2010/main" val="276562597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496F5F-C35E-5184-8A88-36773E3D7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Componente: Exercicio1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2777383-06EE-B672-8302-6BAD78AE3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Crie um componente </a:t>
            </a:r>
            <a:r>
              <a:rPr lang="pt-BR" dirty="0">
                <a:highlight>
                  <a:srgbClr val="00FF00"/>
                </a:highlight>
              </a:rPr>
              <a:t>Exercicio1</a:t>
            </a:r>
            <a:r>
              <a:rPr lang="pt-BR" dirty="0"/>
              <a:t> que deverá receber como </a:t>
            </a:r>
            <a:r>
              <a:rPr lang="pt-BR" u="sng" dirty="0">
                <a:solidFill>
                  <a:srgbClr val="FF0000"/>
                </a:solidFill>
              </a:rPr>
              <a:t>único</a:t>
            </a:r>
            <a:r>
              <a:rPr lang="pt-BR" dirty="0">
                <a:solidFill>
                  <a:srgbClr val="FF0000"/>
                </a:solidFill>
              </a:rPr>
              <a:t> parâmetro o temperatura em graus Fahrenheit</a:t>
            </a:r>
            <a:r>
              <a:rPr lang="pt-BR" dirty="0"/>
              <a:t>.</a:t>
            </a:r>
          </a:p>
          <a:p>
            <a:pPr lvl="1"/>
            <a:endParaRPr lang="pt-BR" dirty="0"/>
          </a:p>
          <a:p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481B8DC-EF0B-41E9-8FB8-AD33DC6AA6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367" y="3009793"/>
            <a:ext cx="11339422" cy="3128117"/>
          </a:xfrm>
          <a:prstGeom prst="rect">
            <a:avLst/>
          </a:prstGeom>
        </p:spPr>
      </p:pic>
      <p:sp>
        <p:nvSpPr>
          <p:cNvPr id="7" name="Seta para a Direita 6">
            <a:extLst>
              <a:ext uri="{FF2B5EF4-FFF2-40B4-BE49-F238E27FC236}">
                <a16:creationId xmlns:a16="http://schemas.microsoft.com/office/drawing/2014/main" id="{D7F00D5B-4E87-EE12-C84E-46B86C817CCD}"/>
              </a:ext>
            </a:extLst>
          </p:cNvPr>
          <p:cNvSpPr/>
          <p:nvPr/>
        </p:nvSpPr>
        <p:spPr bwMode="auto">
          <a:xfrm>
            <a:off x="9317620" y="5278056"/>
            <a:ext cx="2493381" cy="1294193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dirty="0">
                <a:solidFill>
                  <a:schemeClr val="tx1"/>
                </a:solidFill>
                <a:latin typeface="Arial" charset="0"/>
              </a:rPr>
              <a:t>Continua no próximo slide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395BC91D-64E3-4866-9C39-A5CCE2B05794}"/>
              </a:ext>
            </a:extLst>
          </p:cNvPr>
          <p:cNvCxnSpPr/>
          <p:nvPr/>
        </p:nvCxnSpPr>
        <p:spPr bwMode="auto">
          <a:xfrm flipH="1">
            <a:off x="8825023" y="3429000"/>
            <a:ext cx="914400" cy="834656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75D40217-9718-4610-82B0-40D14CEBDC23}"/>
              </a:ext>
            </a:extLst>
          </p:cNvPr>
          <p:cNvCxnSpPr/>
          <p:nvPr/>
        </p:nvCxnSpPr>
        <p:spPr bwMode="auto">
          <a:xfrm>
            <a:off x="9771321" y="3429000"/>
            <a:ext cx="925032" cy="834656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85730112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496F5F-C35E-5184-8A88-36773E3D7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Componente: Exercicio1</a:t>
            </a:r>
          </a:p>
        </p:txBody>
      </p:sp>
      <p:sp>
        <p:nvSpPr>
          <p:cNvPr id="7" name="Seta para a Direita 6">
            <a:extLst>
              <a:ext uri="{FF2B5EF4-FFF2-40B4-BE49-F238E27FC236}">
                <a16:creationId xmlns:a16="http://schemas.microsoft.com/office/drawing/2014/main" id="{D7F00D5B-4E87-EE12-C84E-46B86C817CCD}"/>
              </a:ext>
            </a:extLst>
          </p:cNvPr>
          <p:cNvSpPr/>
          <p:nvPr/>
        </p:nvSpPr>
        <p:spPr bwMode="auto">
          <a:xfrm>
            <a:off x="9317620" y="5278056"/>
            <a:ext cx="2493381" cy="1294193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dirty="0">
                <a:solidFill>
                  <a:schemeClr val="tx1"/>
                </a:solidFill>
                <a:latin typeface="Arial" charset="0"/>
              </a:rPr>
              <a:t>Continua no próximo slide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71E3760-49C3-4811-B2ED-AE2AD8125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75" y="1769638"/>
            <a:ext cx="6538413" cy="225372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5BD0A5ED-70F8-4E33-8000-95391C944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3121441"/>
            <a:ext cx="6967139" cy="3450808"/>
          </a:xfrm>
          <a:prstGeom prst="rect">
            <a:avLst/>
          </a:prstGeom>
        </p:spPr>
      </p:pic>
      <p:sp>
        <p:nvSpPr>
          <p:cNvPr id="6" name="Seta para a Direita 11">
            <a:extLst>
              <a:ext uri="{FF2B5EF4-FFF2-40B4-BE49-F238E27FC236}">
                <a16:creationId xmlns:a16="http://schemas.microsoft.com/office/drawing/2014/main" id="{C01A7634-011F-4D2F-A02D-CC412CB244EF}"/>
              </a:ext>
            </a:extLst>
          </p:cNvPr>
          <p:cNvSpPr/>
          <p:nvPr/>
        </p:nvSpPr>
        <p:spPr bwMode="auto">
          <a:xfrm>
            <a:off x="3714750" y="4707514"/>
            <a:ext cx="1986362" cy="1335298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Arial" charset="0"/>
              </a:rPr>
              <a:t>Saída no navegador</a:t>
            </a:r>
          </a:p>
        </p:txBody>
      </p:sp>
      <p:sp>
        <p:nvSpPr>
          <p:cNvPr id="8" name="Seta para a Direita 10">
            <a:extLst>
              <a:ext uri="{FF2B5EF4-FFF2-40B4-BE49-F238E27FC236}">
                <a16:creationId xmlns:a16="http://schemas.microsoft.com/office/drawing/2014/main" id="{C13BAF58-31A0-47CC-A314-953AB1C1A6DF}"/>
              </a:ext>
            </a:extLst>
          </p:cNvPr>
          <p:cNvSpPr/>
          <p:nvPr/>
        </p:nvSpPr>
        <p:spPr bwMode="auto">
          <a:xfrm rot="19704820" flipH="1">
            <a:off x="6690928" y="466784"/>
            <a:ext cx="2071994" cy="1551007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Arial" charset="0"/>
              </a:rPr>
              <a:t>Chamada no </a:t>
            </a:r>
            <a:r>
              <a:rPr lang="pt-BR" sz="2000" b="1" dirty="0" err="1">
                <a:solidFill>
                  <a:schemeClr val="tx1"/>
                </a:solidFill>
                <a:latin typeface="Arial" charset="0"/>
              </a:rPr>
              <a:t>App.jsx</a:t>
            </a:r>
            <a:endParaRPr lang="pt-BR" sz="2000" b="1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40744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496F5F-C35E-5184-8A88-36773E3D73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 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87EA02-268A-2FEA-1427-298A7254F0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835917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823E8400-56E4-0B3A-7709-9CB5244A2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Crie um componente </a:t>
            </a:r>
            <a:r>
              <a:rPr lang="pt-BR" dirty="0">
                <a:highlight>
                  <a:srgbClr val="00FF00"/>
                </a:highlight>
              </a:rPr>
              <a:t>Exercicio2</a:t>
            </a:r>
            <a:r>
              <a:rPr lang="pt-BR" dirty="0"/>
              <a:t> que deverá calcular o IMC (Índice de Massa Corporal) de uma pessoa. </a:t>
            </a:r>
          </a:p>
          <a:p>
            <a:endParaRPr lang="pt-BR" dirty="0"/>
          </a:p>
          <a:p>
            <a:pPr lvl="1"/>
            <a:r>
              <a:rPr lang="pt-BR" dirty="0"/>
              <a:t>O componente deverá receber os parâmetros</a:t>
            </a:r>
            <a:r>
              <a:rPr lang="pt-BR" dirty="0">
                <a:solidFill>
                  <a:srgbClr val="FF0000"/>
                </a:solidFill>
              </a:rPr>
              <a:t> </a:t>
            </a:r>
          </a:p>
          <a:p>
            <a:pPr lvl="2"/>
            <a:r>
              <a:rPr lang="pt-BR" sz="2800" dirty="0">
                <a:solidFill>
                  <a:srgbClr val="FF0000"/>
                </a:solidFill>
              </a:rPr>
              <a:t>O </a:t>
            </a:r>
            <a:r>
              <a:rPr lang="pt-BR" sz="2800" u="sng" dirty="0">
                <a:solidFill>
                  <a:srgbClr val="FF0000"/>
                </a:solidFill>
              </a:rPr>
              <a:t>peso</a:t>
            </a:r>
            <a:r>
              <a:rPr lang="pt-BR" sz="2800" dirty="0">
                <a:solidFill>
                  <a:srgbClr val="FF0000"/>
                </a:solidFill>
              </a:rPr>
              <a:t> (kg)</a:t>
            </a:r>
          </a:p>
          <a:p>
            <a:pPr lvl="2"/>
            <a:r>
              <a:rPr lang="pt-BR" sz="2800" dirty="0">
                <a:solidFill>
                  <a:srgbClr val="FF0000"/>
                </a:solidFill>
              </a:rPr>
              <a:t>A </a:t>
            </a:r>
            <a:r>
              <a:rPr lang="pt-BR" sz="2800" u="sng" dirty="0">
                <a:solidFill>
                  <a:srgbClr val="FF0000"/>
                </a:solidFill>
              </a:rPr>
              <a:t>altura</a:t>
            </a:r>
            <a:r>
              <a:rPr lang="pt-BR" sz="2800" dirty="0">
                <a:solidFill>
                  <a:srgbClr val="FF0000"/>
                </a:solidFill>
              </a:rPr>
              <a:t> (metros)</a:t>
            </a:r>
          </a:p>
          <a:p>
            <a:pPr lvl="2"/>
            <a:endParaRPr lang="pt-BR" sz="2800" dirty="0"/>
          </a:p>
          <a:p>
            <a:pPr lvl="1"/>
            <a:r>
              <a:rPr lang="pt-BR" dirty="0"/>
              <a:t>O cálculo do IMC é realizado utilizando a fórmula: </a:t>
            </a:r>
          </a:p>
          <a:p>
            <a:pPr lvl="2"/>
            <a:r>
              <a:rPr lang="pt-BR" sz="2800" dirty="0">
                <a:solidFill>
                  <a:srgbClr val="FF0000"/>
                </a:solidFill>
              </a:rPr>
              <a:t>IMC = peso / (altura * altura) 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AD568B0-5593-44B4-9571-3DCAE1966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Componente: Exercicio2</a:t>
            </a:r>
          </a:p>
        </p:txBody>
      </p:sp>
      <p:sp>
        <p:nvSpPr>
          <p:cNvPr id="4" name="Seta para a Direita 3">
            <a:extLst>
              <a:ext uri="{FF2B5EF4-FFF2-40B4-BE49-F238E27FC236}">
                <a16:creationId xmlns:a16="http://schemas.microsoft.com/office/drawing/2014/main" id="{426312D7-ACF9-84D4-B970-6EB3EFAD8BE3}"/>
              </a:ext>
            </a:extLst>
          </p:cNvPr>
          <p:cNvSpPr/>
          <p:nvPr/>
        </p:nvSpPr>
        <p:spPr bwMode="auto">
          <a:xfrm>
            <a:off x="9317620" y="5278056"/>
            <a:ext cx="2493381" cy="1294193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dirty="0">
                <a:solidFill>
                  <a:schemeClr val="tx1"/>
                </a:solidFill>
                <a:latin typeface="Arial" charset="0"/>
              </a:rPr>
              <a:t>Continua no próximo slide</a:t>
            </a:r>
          </a:p>
        </p:txBody>
      </p:sp>
    </p:spTree>
    <p:extLst>
      <p:ext uri="{BB962C8B-B14F-4D97-AF65-F5344CB8AC3E}">
        <p14:creationId xmlns:p14="http://schemas.microsoft.com/office/powerpoint/2010/main" val="235310815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823E8400-56E4-0B3A-7709-9CB5244A2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Crie um componente </a:t>
            </a:r>
            <a:r>
              <a:rPr lang="pt-BR" dirty="0">
                <a:highlight>
                  <a:srgbClr val="00FF00"/>
                </a:highlight>
              </a:rPr>
              <a:t>Exercicio2</a:t>
            </a:r>
            <a:r>
              <a:rPr lang="pt-BR" dirty="0"/>
              <a:t> que deverá calcular o IMC (Índice de Massa Corporal) de uma pessoa. </a:t>
            </a:r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AD568B0-5593-44B4-9571-3DCAE1966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Componente: Exercicio2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FDF0C26-55EC-48C2-B151-AF89677C38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46" y="2982170"/>
            <a:ext cx="11324587" cy="3064300"/>
          </a:xfrm>
          <a:prstGeom prst="rect">
            <a:avLst/>
          </a:prstGeom>
        </p:spPr>
      </p:pic>
      <p:sp>
        <p:nvSpPr>
          <p:cNvPr id="4" name="Seta para a Direita 3">
            <a:extLst>
              <a:ext uri="{FF2B5EF4-FFF2-40B4-BE49-F238E27FC236}">
                <a16:creationId xmlns:a16="http://schemas.microsoft.com/office/drawing/2014/main" id="{426312D7-ACF9-84D4-B970-6EB3EFAD8BE3}"/>
              </a:ext>
            </a:extLst>
          </p:cNvPr>
          <p:cNvSpPr/>
          <p:nvPr/>
        </p:nvSpPr>
        <p:spPr bwMode="auto">
          <a:xfrm>
            <a:off x="9317620" y="5278056"/>
            <a:ext cx="2493381" cy="1294193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dirty="0">
                <a:solidFill>
                  <a:schemeClr val="tx1"/>
                </a:solidFill>
                <a:latin typeface="Arial" charset="0"/>
              </a:rPr>
              <a:t>Continua no próximo slide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B08035EB-233A-470E-AB3D-B2EBF7E59559}"/>
              </a:ext>
            </a:extLst>
          </p:cNvPr>
          <p:cNvCxnSpPr/>
          <p:nvPr/>
        </p:nvCxnSpPr>
        <p:spPr bwMode="auto">
          <a:xfrm flipH="1">
            <a:off x="8750595" y="3083442"/>
            <a:ext cx="1190847" cy="111641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19FDF615-D3DD-4CE0-BA79-DF4121731A51}"/>
              </a:ext>
            </a:extLst>
          </p:cNvPr>
          <p:cNvCxnSpPr/>
          <p:nvPr/>
        </p:nvCxnSpPr>
        <p:spPr bwMode="auto">
          <a:xfrm>
            <a:off x="9952074" y="3072809"/>
            <a:ext cx="988828" cy="115894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51399644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B1C6131-7BD5-4459-A98B-91699315E5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731" y="1698183"/>
            <a:ext cx="6560637" cy="2327968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C5B1BB53-CE39-4C24-BE6B-85B3E58FA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323962F-9749-4931-A88E-AA5C9F3B0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204" y="3429000"/>
            <a:ext cx="6076950" cy="3009900"/>
          </a:xfrm>
          <a:prstGeom prst="rect">
            <a:avLst/>
          </a:prstGeom>
        </p:spPr>
      </p:pic>
      <p:sp>
        <p:nvSpPr>
          <p:cNvPr id="7" name="Seta para a Direita 11">
            <a:extLst>
              <a:ext uri="{FF2B5EF4-FFF2-40B4-BE49-F238E27FC236}">
                <a16:creationId xmlns:a16="http://schemas.microsoft.com/office/drawing/2014/main" id="{8A2012B4-0080-42A8-8413-E653CA6143FA}"/>
              </a:ext>
            </a:extLst>
          </p:cNvPr>
          <p:cNvSpPr/>
          <p:nvPr/>
        </p:nvSpPr>
        <p:spPr bwMode="auto">
          <a:xfrm>
            <a:off x="3714750" y="4707514"/>
            <a:ext cx="1986362" cy="1335298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Arial" charset="0"/>
              </a:rPr>
              <a:t>Saída no navegador</a:t>
            </a:r>
          </a:p>
        </p:txBody>
      </p:sp>
      <p:sp>
        <p:nvSpPr>
          <p:cNvPr id="8" name="Seta para a Direita 10">
            <a:extLst>
              <a:ext uri="{FF2B5EF4-FFF2-40B4-BE49-F238E27FC236}">
                <a16:creationId xmlns:a16="http://schemas.microsoft.com/office/drawing/2014/main" id="{B3549492-8090-44C6-8502-CBA0F07EF135}"/>
              </a:ext>
            </a:extLst>
          </p:cNvPr>
          <p:cNvSpPr/>
          <p:nvPr/>
        </p:nvSpPr>
        <p:spPr bwMode="auto">
          <a:xfrm rot="19704820" flipH="1">
            <a:off x="6690928" y="466784"/>
            <a:ext cx="2071994" cy="1551007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Arial" charset="0"/>
              </a:rPr>
              <a:t>Chamada no </a:t>
            </a:r>
            <a:r>
              <a:rPr lang="pt-BR" sz="2000" b="1" dirty="0" err="1">
                <a:solidFill>
                  <a:schemeClr val="tx1"/>
                </a:solidFill>
                <a:latin typeface="Arial" charset="0"/>
              </a:rPr>
              <a:t>App.jsx</a:t>
            </a:r>
            <a:endParaRPr lang="pt-BR" sz="2000" b="1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75628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496F5F-C35E-5184-8A88-36773E3D73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 3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87EA02-268A-2FEA-1427-298A7254F0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669613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B1B9BF1-4D75-5D61-0B59-3CD1CA4CB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Crie um componente </a:t>
            </a:r>
            <a:r>
              <a:rPr lang="pt-BR" dirty="0">
                <a:highlight>
                  <a:srgbClr val="00FF00"/>
                </a:highlight>
              </a:rPr>
              <a:t>Exercicio3</a:t>
            </a:r>
            <a:r>
              <a:rPr lang="pt-BR" dirty="0"/>
              <a:t> que deverá </a:t>
            </a:r>
            <a:r>
              <a:rPr lang="pt-BR" dirty="0">
                <a:solidFill>
                  <a:srgbClr val="FF0000"/>
                </a:solidFill>
              </a:rPr>
              <a:t>receber duas notas de e calcular a média aritmética das notas</a:t>
            </a:r>
            <a:r>
              <a:rPr lang="pt-BR" dirty="0"/>
              <a:t> de um aluno e exibir se o aluno está aprovado ou reprovado. 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O componente deverá receber os parâmetros</a:t>
            </a:r>
            <a:r>
              <a:rPr lang="pt-BR" dirty="0">
                <a:solidFill>
                  <a:srgbClr val="FF0000"/>
                </a:solidFill>
              </a:rPr>
              <a:t> </a:t>
            </a:r>
            <a:r>
              <a:rPr lang="pt-BR" u="sng" dirty="0">
                <a:solidFill>
                  <a:srgbClr val="FF0000"/>
                </a:solidFill>
              </a:rPr>
              <a:t>nota1</a:t>
            </a:r>
            <a:r>
              <a:rPr lang="pt-BR" dirty="0">
                <a:solidFill>
                  <a:srgbClr val="FF0000"/>
                </a:solidFill>
              </a:rPr>
              <a:t> e </a:t>
            </a:r>
            <a:r>
              <a:rPr lang="pt-BR" u="sng" dirty="0">
                <a:solidFill>
                  <a:srgbClr val="FF0000"/>
                </a:solidFill>
              </a:rPr>
              <a:t>nota2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O aluno é aprovado com média superior ou igual a 6</a:t>
            </a:r>
          </a:p>
          <a:p>
            <a:pPr lvl="1"/>
            <a:endParaRPr lang="pt-BR" sz="3200" dirty="0"/>
          </a:p>
          <a:p>
            <a:endParaRPr lang="pt-BR" sz="36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3496F5F-C35E-5184-8A88-36773E3D7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Componente: Exercicio3</a:t>
            </a:r>
          </a:p>
        </p:txBody>
      </p:sp>
      <p:sp>
        <p:nvSpPr>
          <p:cNvPr id="7" name="Seta para a Direita 6">
            <a:extLst>
              <a:ext uri="{FF2B5EF4-FFF2-40B4-BE49-F238E27FC236}">
                <a16:creationId xmlns:a16="http://schemas.microsoft.com/office/drawing/2014/main" id="{2B5DE450-4345-DB1A-92E4-754CD4CB806B}"/>
              </a:ext>
            </a:extLst>
          </p:cNvPr>
          <p:cNvSpPr/>
          <p:nvPr/>
        </p:nvSpPr>
        <p:spPr bwMode="auto">
          <a:xfrm>
            <a:off x="9317620" y="5278056"/>
            <a:ext cx="2493381" cy="1294193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dirty="0">
                <a:solidFill>
                  <a:schemeClr val="tx1"/>
                </a:solidFill>
                <a:latin typeface="Arial" charset="0"/>
              </a:rPr>
              <a:t>Continua no próximo slide</a:t>
            </a:r>
          </a:p>
        </p:txBody>
      </p:sp>
    </p:spTree>
    <p:extLst>
      <p:ext uri="{BB962C8B-B14F-4D97-AF65-F5344CB8AC3E}">
        <p14:creationId xmlns:p14="http://schemas.microsoft.com/office/powerpoint/2010/main" val="357105635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496F5F-C35E-5184-8A88-36773E3D7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Componente: Exercicio3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D1AF510-98CB-ED25-5F1D-BFB3B8AC7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299" y="3625987"/>
            <a:ext cx="5919677" cy="155100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D5F5970-824F-A928-268D-EB347BE701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155"/>
          <a:stretch/>
        </p:blipFill>
        <p:spPr>
          <a:xfrm>
            <a:off x="7650865" y="4661829"/>
            <a:ext cx="4404609" cy="191042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6CA6EF0-92FC-0336-58A8-6D2FD2FE3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308" y="1647100"/>
            <a:ext cx="5962084" cy="1841500"/>
          </a:xfrm>
          <a:prstGeom prst="rect">
            <a:avLst/>
          </a:prstGeom>
        </p:spPr>
      </p:pic>
      <p:sp>
        <p:nvSpPr>
          <p:cNvPr id="10" name="Seta para a Esquerda 9">
            <a:extLst>
              <a:ext uri="{FF2B5EF4-FFF2-40B4-BE49-F238E27FC236}">
                <a16:creationId xmlns:a16="http://schemas.microsoft.com/office/drawing/2014/main" id="{99F8CBFE-F0F4-126E-23DB-27D68A98A3DD}"/>
              </a:ext>
            </a:extLst>
          </p:cNvPr>
          <p:cNvSpPr/>
          <p:nvPr/>
        </p:nvSpPr>
        <p:spPr bwMode="auto">
          <a:xfrm>
            <a:off x="6512744" y="1694136"/>
            <a:ext cx="3553427" cy="1523197"/>
          </a:xfrm>
          <a:prstGeom prst="lef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400" dirty="0">
                <a:solidFill>
                  <a:schemeClr val="tx1"/>
                </a:solidFill>
                <a:latin typeface="Arial" charset="0"/>
              </a:rPr>
              <a:t>Declaração no </a:t>
            </a:r>
            <a:r>
              <a:rPr lang="pt-BR" sz="2400" b="1" dirty="0">
                <a:solidFill>
                  <a:schemeClr val="tx1"/>
                </a:solidFill>
                <a:latin typeface="Arial" charset="0"/>
              </a:rPr>
              <a:t>Exercicio3.jsx</a:t>
            </a:r>
          </a:p>
        </p:txBody>
      </p:sp>
      <p:sp>
        <p:nvSpPr>
          <p:cNvPr id="11" name="Seta para a Direita 10">
            <a:extLst>
              <a:ext uri="{FF2B5EF4-FFF2-40B4-BE49-F238E27FC236}">
                <a16:creationId xmlns:a16="http://schemas.microsoft.com/office/drawing/2014/main" id="{508559D6-E80C-6472-BB8F-53A5CA8214DE}"/>
              </a:ext>
            </a:extLst>
          </p:cNvPr>
          <p:cNvSpPr/>
          <p:nvPr/>
        </p:nvSpPr>
        <p:spPr bwMode="auto">
          <a:xfrm>
            <a:off x="136525" y="3547064"/>
            <a:ext cx="1929141" cy="1551007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Arial" charset="0"/>
              </a:rPr>
              <a:t>Chamada no </a:t>
            </a:r>
            <a:r>
              <a:rPr lang="pt-BR" sz="2000" b="1" dirty="0" err="1">
                <a:solidFill>
                  <a:schemeClr val="tx1"/>
                </a:solidFill>
                <a:latin typeface="Arial" charset="0"/>
              </a:rPr>
              <a:t>App.jsx</a:t>
            </a:r>
            <a:endParaRPr lang="pt-BR" sz="2000" b="1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2" name="Seta para a Direita 11">
            <a:extLst>
              <a:ext uri="{FF2B5EF4-FFF2-40B4-BE49-F238E27FC236}">
                <a16:creationId xmlns:a16="http://schemas.microsoft.com/office/drawing/2014/main" id="{54FD14A7-E6D7-9C8E-D4DD-A8E412CC8B0F}"/>
              </a:ext>
            </a:extLst>
          </p:cNvPr>
          <p:cNvSpPr/>
          <p:nvPr/>
        </p:nvSpPr>
        <p:spPr bwMode="auto">
          <a:xfrm>
            <a:off x="4151510" y="5668599"/>
            <a:ext cx="3345083" cy="682907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Arial" charset="0"/>
              </a:rPr>
              <a:t>Saída no navegador</a:t>
            </a:r>
          </a:p>
        </p:txBody>
      </p:sp>
    </p:spTree>
    <p:extLst>
      <p:ext uri="{BB962C8B-B14F-4D97-AF65-F5344CB8AC3E}">
        <p14:creationId xmlns:p14="http://schemas.microsoft.com/office/powerpoint/2010/main" val="305954104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496F5F-C35E-5184-8A88-36773E3D73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 4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87EA02-268A-2FEA-1427-298A7254F0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923477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0E8652E0-CE6A-4CB5-85CD-B6352DE2E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dirty="0"/>
              <a:t>Crie um componente </a:t>
            </a:r>
            <a:r>
              <a:rPr lang="pt-BR" sz="2800" dirty="0">
                <a:highlight>
                  <a:srgbClr val="00FF00"/>
                </a:highlight>
              </a:rPr>
              <a:t>Exercicio4</a:t>
            </a:r>
            <a:r>
              <a:rPr lang="pt-BR" sz="2800" dirty="0"/>
              <a:t> que deverá calcular a área do triangulo ou a área do retângulo. </a:t>
            </a:r>
          </a:p>
          <a:p>
            <a:pPr lvl="1"/>
            <a:r>
              <a:rPr lang="pt-BR" sz="2400" dirty="0"/>
              <a:t>O componente deverá receber os parâmetros</a:t>
            </a:r>
            <a:r>
              <a:rPr lang="pt-BR" sz="2400" dirty="0">
                <a:solidFill>
                  <a:srgbClr val="FF0000"/>
                </a:solidFill>
              </a:rPr>
              <a:t> o </a:t>
            </a:r>
            <a:r>
              <a:rPr lang="pt-BR" sz="2400" u="sng" dirty="0">
                <a:solidFill>
                  <a:srgbClr val="FF0000"/>
                </a:solidFill>
              </a:rPr>
              <a:t>tipo</a:t>
            </a:r>
            <a:r>
              <a:rPr lang="pt-BR" sz="2400" dirty="0">
                <a:solidFill>
                  <a:srgbClr val="FF0000"/>
                </a:solidFill>
              </a:rPr>
              <a:t>, a </a:t>
            </a:r>
            <a:r>
              <a:rPr lang="pt-BR" sz="2400" u="sng" dirty="0">
                <a:solidFill>
                  <a:srgbClr val="FF0000"/>
                </a:solidFill>
              </a:rPr>
              <a:t>base</a:t>
            </a:r>
            <a:r>
              <a:rPr lang="pt-BR" sz="2400" dirty="0">
                <a:solidFill>
                  <a:srgbClr val="FF0000"/>
                </a:solidFill>
              </a:rPr>
              <a:t>, a </a:t>
            </a:r>
            <a:r>
              <a:rPr lang="pt-BR" sz="2400" u="sng" dirty="0">
                <a:solidFill>
                  <a:srgbClr val="FF0000"/>
                </a:solidFill>
              </a:rPr>
              <a:t>altura</a:t>
            </a:r>
            <a:endParaRPr lang="pt-BR" sz="2400" dirty="0"/>
          </a:p>
          <a:p>
            <a:pPr lvl="1"/>
            <a:r>
              <a:rPr lang="pt-BR" sz="2400" dirty="0"/>
              <a:t>O parâmetro </a:t>
            </a:r>
            <a:r>
              <a:rPr lang="pt-BR" sz="2400" dirty="0">
                <a:solidFill>
                  <a:srgbClr val="FF0000"/>
                </a:solidFill>
              </a:rPr>
              <a:t>tipo</a:t>
            </a:r>
            <a:r>
              <a:rPr lang="pt-BR" sz="2400" dirty="0"/>
              <a:t> irá verificar se foi informado o valor </a:t>
            </a:r>
            <a:r>
              <a:rPr lang="pt-BR" sz="24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triangulo</a:t>
            </a:r>
            <a:r>
              <a:rPr lang="pt-BR" sz="2400" dirty="0"/>
              <a:t> ou </a:t>
            </a:r>
            <a:r>
              <a:rPr lang="pt-BR" sz="24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retângulo, </a:t>
            </a:r>
            <a:r>
              <a:rPr lang="pt-BR" sz="2400" dirty="0"/>
              <a:t>e deverá ser calculado a área do respectivo polígono, ou exiba o valor 0 para a área se o valor foi informado for diferente.</a:t>
            </a: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4DEDCFD7-330B-4C51-9DC0-2F82E9F36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Componente</a:t>
            </a:r>
            <a:r>
              <a:rPr lang="pt-BR"/>
              <a:t>: Exercicio4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5E1F266-1155-02A7-16ED-6017AD1B4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448096"/>
            <a:ext cx="2459064" cy="188272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06B62676-9A06-D003-EC60-1045F18A1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0811" y="4448096"/>
            <a:ext cx="2428180" cy="188272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2" name="Seta para a Direita 11">
            <a:extLst>
              <a:ext uri="{FF2B5EF4-FFF2-40B4-BE49-F238E27FC236}">
                <a16:creationId xmlns:a16="http://schemas.microsoft.com/office/drawing/2014/main" id="{2FAB1E4C-0987-DDD2-86B0-56C7131BC919}"/>
              </a:ext>
            </a:extLst>
          </p:cNvPr>
          <p:cNvSpPr/>
          <p:nvPr/>
        </p:nvSpPr>
        <p:spPr bwMode="auto">
          <a:xfrm>
            <a:off x="9317620" y="5278056"/>
            <a:ext cx="2493381" cy="1294193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dirty="0">
                <a:solidFill>
                  <a:schemeClr val="tx1"/>
                </a:solidFill>
                <a:latin typeface="Arial" charset="0"/>
              </a:rPr>
              <a:t>Continua no próximo slide</a:t>
            </a:r>
          </a:p>
        </p:txBody>
      </p:sp>
    </p:spTree>
    <p:extLst>
      <p:ext uri="{BB962C8B-B14F-4D97-AF65-F5344CB8AC3E}">
        <p14:creationId xmlns:p14="http://schemas.microsoft.com/office/powerpoint/2010/main" val="421887197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DEDCFD7-330B-4C51-9DC0-2F82E9F36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Componente</a:t>
            </a:r>
            <a:r>
              <a:rPr lang="pt-BR"/>
              <a:t>: Exercicio4</a:t>
            </a:r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EA849CE-031D-B92C-3CFB-32B93BCC7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141" y="4687265"/>
            <a:ext cx="4504421" cy="1641798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04791378-1E3F-600E-9FDB-23CA53571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8210" y="3900669"/>
            <a:ext cx="5352083" cy="12337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6374206D-6B15-22A5-BA5E-E53447B37E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389" y="1640567"/>
            <a:ext cx="7551019" cy="1970733"/>
          </a:xfrm>
          <a:prstGeom prst="rect">
            <a:avLst/>
          </a:prstGeom>
        </p:spPr>
      </p:pic>
      <p:sp>
        <p:nvSpPr>
          <p:cNvPr id="12" name="Seta para a Esquerda 11">
            <a:extLst>
              <a:ext uri="{FF2B5EF4-FFF2-40B4-BE49-F238E27FC236}">
                <a16:creationId xmlns:a16="http://schemas.microsoft.com/office/drawing/2014/main" id="{1B2E2967-9F60-3173-D8AB-8128873F8E7A}"/>
              </a:ext>
            </a:extLst>
          </p:cNvPr>
          <p:cNvSpPr/>
          <p:nvPr/>
        </p:nvSpPr>
        <p:spPr bwMode="auto">
          <a:xfrm>
            <a:off x="8257574" y="1733867"/>
            <a:ext cx="3553427" cy="1523197"/>
          </a:xfrm>
          <a:prstGeom prst="lef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400" dirty="0">
                <a:solidFill>
                  <a:schemeClr val="tx1"/>
                </a:solidFill>
                <a:latin typeface="Arial" charset="0"/>
              </a:rPr>
              <a:t>Declaração no </a:t>
            </a:r>
            <a:r>
              <a:rPr lang="pt-BR" sz="2400" b="1" dirty="0">
                <a:solidFill>
                  <a:schemeClr val="tx1"/>
                </a:solidFill>
                <a:latin typeface="Arial" charset="0"/>
              </a:rPr>
              <a:t>Exercicio4.jsx</a:t>
            </a:r>
          </a:p>
        </p:txBody>
      </p:sp>
      <p:sp>
        <p:nvSpPr>
          <p:cNvPr id="13" name="Seta para a Direita 12">
            <a:extLst>
              <a:ext uri="{FF2B5EF4-FFF2-40B4-BE49-F238E27FC236}">
                <a16:creationId xmlns:a16="http://schemas.microsoft.com/office/drawing/2014/main" id="{01B66C70-A12C-9FC6-BE85-2B753CA3FC93}"/>
              </a:ext>
            </a:extLst>
          </p:cNvPr>
          <p:cNvSpPr/>
          <p:nvPr/>
        </p:nvSpPr>
        <p:spPr bwMode="auto">
          <a:xfrm>
            <a:off x="136525" y="3811842"/>
            <a:ext cx="1929141" cy="1551007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Arial" charset="0"/>
              </a:rPr>
              <a:t>Chamada no </a:t>
            </a:r>
            <a:r>
              <a:rPr lang="pt-BR" sz="2000" b="1" dirty="0" err="1">
                <a:solidFill>
                  <a:schemeClr val="tx1"/>
                </a:solidFill>
                <a:latin typeface="Arial" charset="0"/>
              </a:rPr>
              <a:t>App.jsx</a:t>
            </a:r>
            <a:endParaRPr lang="pt-BR" sz="2000" b="1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4" name="Seta para a Direita 13">
            <a:extLst>
              <a:ext uri="{FF2B5EF4-FFF2-40B4-BE49-F238E27FC236}">
                <a16:creationId xmlns:a16="http://schemas.microsoft.com/office/drawing/2014/main" id="{140D6905-16DA-4924-7300-E1AB79CA5829}"/>
              </a:ext>
            </a:extLst>
          </p:cNvPr>
          <p:cNvSpPr/>
          <p:nvPr/>
        </p:nvSpPr>
        <p:spPr bwMode="auto">
          <a:xfrm>
            <a:off x="4105210" y="5646156"/>
            <a:ext cx="3345083" cy="682907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Arial" charset="0"/>
              </a:rPr>
              <a:t>Saída no navegador</a:t>
            </a:r>
          </a:p>
        </p:txBody>
      </p:sp>
    </p:spTree>
    <p:extLst>
      <p:ext uri="{BB962C8B-B14F-4D97-AF65-F5344CB8AC3E}">
        <p14:creationId xmlns:p14="http://schemas.microsoft.com/office/powerpoint/2010/main" val="246207495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496F5F-C35E-5184-8A88-36773E3D73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 5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87EA02-268A-2FEA-1427-298A7254F0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948881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A667E7B9-BE11-1A15-97A8-D0CB0D26F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dirty="0"/>
              <a:t>O salário de um médico é calculado com base na quantidade de consultas realizadas no mês, descontado o INSS de 8%.</a:t>
            </a:r>
          </a:p>
          <a:p>
            <a:pPr lvl="1"/>
            <a:r>
              <a:rPr lang="pt-BR" sz="2400" dirty="0"/>
              <a:t>Crie um componente </a:t>
            </a:r>
            <a:r>
              <a:rPr lang="pt-BR" sz="2400" dirty="0">
                <a:highlight>
                  <a:srgbClr val="00FF00"/>
                </a:highlight>
              </a:rPr>
              <a:t>Exercicio5</a:t>
            </a:r>
            <a:r>
              <a:rPr lang="pt-BR" sz="2400" dirty="0"/>
              <a:t> que deverá receber a quantidade de consultas realizadas pelo médico ao longo de 1 mês.</a:t>
            </a:r>
          </a:p>
          <a:p>
            <a:pPr lvl="2"/>
            <a:r>
              <a:rPr lang="pt-BR" sz="2000" dirty="0"/>
              <a:t>O salário bruto é obtido a partir da quantidade de consultas multiplicando por  </a:t>
            </a:r>
            <a:r>
              <a:rPr lang="pt-BR" sz="2000" dirty="0" err="1"/>
              <a:t>R</a:t>
            </a:r>
            <a:r>
              <a:rPr lang="pt-BR" sz="2000" dirty="0"/>
              <a:t>$ 150,00 que o valor da consulta</a:t>
            </a:r>
          </a:p>
          <a:p>
            <a:pPr lvl="2"/>
            <a:r>
              <a:rPr lang="pt-BR" sz="2000" dirty="0"/>
              <a:t>A alíquota do 8% sobre o salário bruto.</a:t>
            </a:r>
          </a:p>
          <a:p>
            <a:pPr lvl="2"/>
            <a:r>
              <a:rPr lang="pt-BR" sz="2000" dirty="0"/>
              <a:t>O salário liquido será o salário bruto menos o valor </a:t>
            </a:r>
            <a:br>
              <a:rPr lang="pt-BR" sz="2000" dirty="0"/>
            </a:br>
            <a:r>
              <a:rPr lang="pt-BR" sz="2000" dirty="0"/>
              <a:t>do INSS</a:t>
            </a:r>
          </a:p>
          <a:p>
            <a:pPr lvl="1"/>
            <a:r>
              <a:rPr lang="pt-BR" sz="2200" dirty="0"/>
              <a:t>O componente deverá exibir os valores calculados</a:t>
            </a:r>
          </a:p>
          <a:p>
            <a:endParaRPr lang="pt-BR" sz="280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3AD9E3A-D9C7-576C-F66D-E217C260E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Componente Exercicio5</a:t>
            </a:r>
          </a:p>
        </p:txBody>
      </p:sp>
      <p:sp>
        <p:nvSpPr>
          <p:cNvPr id="7" name="Seta para a Direita 6">
            <a:extLst>
              <a:ext uri="{FF2B5EF4-FFF2-40B4-BE49-F238E27FC236}">
                <a16:creationId xmlns:a16="http://schemas.microsoft.com/office/drawing/2014/main" id="{D7F78B0C-FDB2-FABF-F31D-49A9C6D79F02}"/>
              </a:ext>
            </a:extLst>
          </p:cNvPr>
          <p:cNvSpPr/>
          <p:nvPr/>
        </p:nvSpPr>
        <p:spPr bwMode="auto">
          <a:xfrm>
            <a:off x="9317620" y="5278056"/>
            <a:ext cx="2493381" cy="1294193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dirty="0">
                <a:solidFill>
                  <a:schemeClr val="tx1"/>
                </a:solidFill>
                <a:latin typeface="Arial" charset="0"/>
              </a:rPr>
              <a:t>Continua no próximo slide</a:t>
            </a:r>
          </a:p>
        </p:txBody>
      </p:sp>
    </p:spTree>
    <p:extLst>
      <p:ext uri="{BB962C8B-B14F-4D97-AF65-F5344CB8AC3E}">
        <p14:creationId xmlns:p14="http://schemas.microsoft.com/office/powerpoint/2010/main" val="80138620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E3AD9E3A-D9C7-576C-F66D-E217C260E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Componente Exercicio5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23DEC3E-7C55-8A1B-3E20-7886A1037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1484" y="3808388"/>
            <a:ext cx="3223990" cy="281459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B7D9D25-C008-E460-0800-420471713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286" y="4193160"/>
            <a:ext cx="5758819" cy="156269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F454EB2-A479-66DB-493B-0F7715A7B1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477" y="1703498"/>
            <a:ext cx="6757732" cy="1988826"/>
          </a:xfrm>
          <a:prstGeom prst="rect">
            <a:avLst/>
          </a:prstGeom>
        </p:spPr>
      </p:pic>
      <p:sp>
        <p:nvSpPr>
          <p:cNvPr id="10" name="Seta para a Esquerda 9">
            <a:extLst>
              <a:ext uri="{FF2B5EF4-FFF2-40B4-BE49-F238E27FC236}">
                <a16:creationId xmlns:a16="http://schemas.microsoft.com/office/drawing/2014/main" id="{7B070B51-6F00-3829-632F-53DE12C6EA7B}"/>
              </a:ext>
            </a:extLst>
          </p:cNvPr>
          <p:cNvSpPr/>
          <p:nvPr/>
        </p:nvSpPr>
        <p:spPr bwMode="auto">
          <a:xfrm>
            <a:off x="7303626" y="1703498"/>
            <a:ext cx="3553427" cy="1523197"/>
          </a:xfrm>
          <a:prstGeom prst="lef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400" dirty="0">
                <a:solidFill>
                  <a:schemeClr val="tx1"/>
                </a:solidFill>
                <a:latin typeface="Arial" charset="0"/>
              </a:rPr>
              <a:t>Declaração no </a:t>
            </a:r>
            <a:r>
              <a:rPr lang="pt-BR" sz="2400" b="1" dirty="0">
                <a:solidFill>
                  <a:schemeClr val="tx1"/>
                </a:solidFill>
                <a:latin typeface="Arial" charset="0"/>
              </a:rPr>
              <a:t>Exercicio5.jsx</a:t>
            </a:r>
          </a:p>
        </p:txBody>
      </p:sp>
      <p:sp>
        <p:nvSpPr>
          <p:cNvPr id="11" name="Seta para a Direita 10">
            <a:extLst>
              <a:ext uri="{FF2B5EF4-FFF2-40B4-BE49-F238E27FC236}">
                <a16:creationId xmlns:a16="http://schemas.microsoft.com/office/drawing/2014/main" id="{99291418-06F1-29E5-983D-819371AE3012}"/>
              </a:ext>
            </a:extLst>
          </p:cNvPr>
          <p:cNvSpPr/>
          <p:nvPr/>
        </p:nvSpPr>
        <p:spPr bwMode="auto">
          <a:xfrm>
            <a:off x="136525" y="4363655"/>
            <a:ext cx="1929141" cy="1551007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Arial" charset="0"/>
              </a:rPr>
              <a:t>Chamada no </a:t>
            </a:r>
            <a:r>
              <a:rPr lang="pt-BR" sz="2000" b="1" dirty="0" err="1">
                <a:solidFill>
                  <a:schemeClr val="tx1"/>
                </a:solidFill>
                <a:latin typeface="Arial" charset="0"/>
              </a:rPr>
              <a:t>App.jsx</a:t>
            </a:r>
            <a:endParaRPr lang="pt-BR" sz="2000" b="1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2" name="Seta para a Direita 11">
            <a:extLst>
              <a:ext uri="{FF2B5EF4-FFF2-40B4-BE49-F238E27FC236}">
                <a16:creationId xmlns:a16="http://schemas.microsoft.com/office/drawing/2014/main" id="{36CEC499-C8B7-8527-573F-50496537C597}"/>
              </a:ext>
            </a:extLst>
          </p:cNvPr>
          <p:cNvSpPr/>
          <p:nvPr/>
        </p:nvSpPr>
        <p:spPr bwMode="auto">
          <a:xfrm>
            <a:off x="5312780" y="5694744"/>
            <a:ext cx="3345083" cy="682907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Arial" charset="0"/>
              </a:rPr>
              <a:t>Saída no navegador</a:t>
            </a:r>
          </a:p>
        </p:txBody>
      </p:sp>
    </p:spTree>
    <p:extLst>
      <p:ext uri="{BB962C8B-B14F-4D97-AF65-F5344CB8AC3E}">
        <p14:creationId xmlns:p14="http://schemas.microsoft.com/office/powerpoint/2010/main" val="321613980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496F5F-C35E-5184-8A88-36773E3D73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 6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87EA02-268A-2FEA-1427-298A7254F0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220243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9885F04A-548F-AADF-6D7D-FC22C7583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Componente Exercicio6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BAF1048-ABD3-5A0C-3E87-CFD276289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3200" dirty="0"/>
              <a:t>Crie um componente </a:t>
            </a:r>
            <a:r>
              <a:rPr lang="pt-BR" sz="3200" dirty="0">
                <a:highlight>
                  <a:srgbClr val="00FF00"/>
                </a:highlight>
              </a:rPr>
              <a:t>Exercicio6</a:t>
            </a:r>
            <a:r>
              <a:rPr lang="pt-BR" sz="3200" dirty="0"/>
              <a:t> que </a:t>
            </a:r>
            <a:br>
              <a:rPr lang="pt-BR" sz="3200" dirty="0"/>
            </a:br>
            <a:r>
              <a:rPr lang="pt-BR" sz="3200" dirty="0"/>
              <a:t>deverá calcular os juros </a:t>
            </a:r>
            <a:r>
              <a:rPr lang="pt-BR" dirty="0"/>
              <a:t>simples e </a:t>
            </a:r>
            <a:br>
              <a:rPr lang="pt-BR" dirty="0"/>
            </a:br>
            <a:r>
              <a:rPr lang="pt-BR" dirty="0"/>
              <a:t>compostos a partir do seguintes </a:t>
            </a:r>
            <a:br>
              <a:rPr lang="pt-BR" dirty="0"/>
            </a:br>
            <a:r>
              <a:rPr lang="pt-BR" dirty="0"/>
              <a:t>valores: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Capital</a:t>
            </a:r>
            <a:r>
              <a:rPr lang="pt-BR" dirty="0"/>
              <a:t> (em </a:t>
            </a:r>
            <a:r>
              <a:rPr lang="pt-BR" dirty="0" err="1"/>
              <a:t>R</a:t>
            </a:r>
            <a:r>
              <a:rPr lang="pt-BR" dirty="0"/>
              <a:t>$)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Taxa de Juros</a:t>
            </a:r>
            <a:r>
              <a:rPr lang="pt-BR" dirty="0"/>
              <a:t>(em %) 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Tempo</a:t>
            </a:r>
            <a:r>
              <a:rPr lang="pt-BR" dirty="0"/>
              <a:t> (em meses)</a:t>
            </a:r>
          </a:p>
          <a:p>
            <a:pPr lvl="1"/>
            <a:r>
              <a:rPr lang="pt-BR" dirty="0"/>
              <a:t>O componente deverá receber os valores acima, e exibir o </a:t>
            </a:r>
            <a:br>
              <a:rPr lang="pt-BR" dirty="0"/>
            </a:br>
            <a:r>
              <a:rPr lang="pt-BR" dirty="0">
                <a:solidFill>
                  <a:srgbClr val="FF0000"/>
                </a:solidFill>
              </a:rPr>
              <a:t>Montante</a:t>
            </a:r>
            <a:r>
              <a:rPr lang="pt-BR" dirty="0"/>
              <a:t> considerando Juros Simples e </a:t>
            </a:r>
            <a:br>
              <a:rPr lang="pt-BR" dirty="0"/>
            </a:br>
            <a:r>
              <a:rPr lang="pt-BR" dirty="0"/>
              <a:t>Juros Compostos</a:t>
            </a:r>
          </a:p>
          <a:p>
            <a:endParaRPr lang="pt-BR" dirty="0"/>
          </a:p>
        </p:txBody>
      </p:sp>
      <p:pic>
        <p:nvPicPr>
          <p:cNvPr id="7" name="Espaço Reservado para Conteúdo 3">
            <a:extLst>
              <a:ext uri="{FF2B5EF4-FFF2-40B4-BE49-F238E27FC236}">
                <a16:creationId xmlns:a16="http://schemas.microsoft.com/office/drawing/2014/main" id="{0A580F78-A2BB-B895-431F-2873F60CD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398911" y="1736201"/>
            <a:ext cx="4697839" cy="3287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Seta para a Direita 8">
            <a:extLst>
              <a:ext uri="{FF2B5EF4-FFF2-40B4-BE49-F238E27FC236}">
                <a16:creationId xmlns:a16="http://schemas.microsoft.com/office/drawing/2014/main" id="{605B1507-2A74-BEE6-FC4A-DDE6E3794A63}"/>
              </a:ext>
            </a:extLst>
          </p:cNvPr>
          <p:cNvSpPr/>
          <p:nvPr/>
        </p:nvSpPr>
        <p:spPr bwMode="auto">
          <a:xfrm>
            <a:off x="9603369" y="5278056"/>
            <a:ext cx="2493381" cy="1294193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dirty="0">
                <a:solidFill>
                  <a:schemeClr val="tx1"/>
                </a:solidFill>
                <a:latin typeface="Arial" charset="0"/>
              </a:rPr>
              <a:t>Continua no próximo slide</a:t>
            </a:r>
          </a:p>
        </p:txBody>
      </p:sp>
    </p:spTree>
    <p:extLst>
      <p:ext uri="{BB962C8B-B14F-4D97-AF65-F5344CB8AC3E}">
        <p14:creationId xmlns:p14="http://schemas.microsoft.com/office/powerpoint/2010/main" val="175856398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5F3B511-C59F-34C7-7042-23504CF98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Componente Exercicio6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4C6E5CD-53EB-A9F1-8777-44FCE99CC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25" y="1613542"/>
            <a:ext cx="7312245" cy="2044057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0186DA2-1A56-EB86-E1F7-19B268709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5666" y="4140320"/>
            <a:ext cx="6900287" cy="145398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8C5C779-5407-093F-33DC-B13126891D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1484" y="3405184"/>
            <a:ext cx="2906113" cy="3016194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8" name="Seta para a Esquerda 7">
            <a:extLst>
              <a:ext uri="{FF2B5EF4-FFF2-40B4-BE49-F238E27FC236}">
                <a16:creationId xmlns:a16="http://schemas.microsoft.com/office/drawing/2014/main" id="{88DF000D-6CC5-1A95-A034-EA289854D0B5}"/>
              </a:ext>
            </a:extLst>
          </p:cNvPr>
          <p:cNvSpPr/>
          <p:nvPr/>
        </p:nvSpPr>
        <p:spPr bwMode="auto">
          <a:xfrm>
            <a:off x="7986532" y="1613542"/>
            <a:ext cx="3553427" cy="1523197"/>
          </a:xfrm>
          <a:prstGeom prst="lef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400" dirty="0">
                <a:solidFill>
                  <a:schemeClr val="tx1"/>
                </a:solidFill>
                <a:latin typeface="Arial" charset="0"/>
              </a:rPr>
              <a:t>Declaração no </a:t>
            </a:r>
            <a:r>
              <a:rPr lang="pt-BR" sz="2400" b="1" dirty="0">
                <a:solidFill>
                  <a:schemeClr val="tx1"/>
                </a:solidFill>
                <a:latin typeface="Arial" charset="0"/>
              </a:rPr>
              <a:t>Exercicio6.jsx</a:t>
            </a:r>
          </a:p>
        </p:txBody>
      </p:sp>
      <p:sp>
        <p:nvSpPr>
          <p:cNvPr id="10" name="Seta para a Direita 9">
            <a:extLst>
              <a:ext uri="{FF2B5EF4-FFF2-40B4-BE49-F238E27FC236}">
                <a16:creationId xmlns:a16="http://schemas.microsoft.com/office/drawing/2014/main" id="{A3F6132A-49E5-5D7A-DFE6-1753FC1768A6}"/>
              </a:ext>
            </a:extLst>
          </p:cNvPr>
          <p:cNvSpPr/>
          <p:nvPr/>
        </p:nvSpPr>
        <p:spPr bwMode="auto">
          <a:xfrm>
            <a:off x="136525" y="4363655"/>
            <a:ext cx="1929141" cy="1551007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Arial" charset="0"/>
              </a:rPr>
              <a:t>Chamada no </a:t>
            </a:r>
            <a:r>
              <a:rPr lang="pt-BR" sz="2000" b="1" dirty="0" err="1">
                <a:solidFill>
                  <a:schemeClr val="tx1"/>
                </a:solidFill>
                <a:latin typeface="Arial" charset="0"/>
              </a:rPr>
              <a:t>App.jsx</a:t>
            </a:r>
            <a:endParaRPr lang="pt-BR" sz="2000" b="1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1" name="Seta para a Direita 10">
            <a:extLst>
              <a:ext uri="{FF2B5EF4-FFF2-40B4-BE49-F238E27FC236}">
                <a16:creationId xmlns:a16="http://schemas.microsoft.com/office/drawing/2014/main" id="{DAA7BB39-7A89-C1D3-E273-C40862FE6F3B}"/>
              </a:ext>
            </a:extLst>
          </p:cNvPr>
          <p:cNvSpPr/>
          <p:nvPr/>
        </p:nvSpPr>
        <p:spPr bwMode="auto">
          <a:xfrm>
            <a:off x="5312780" y="5694744"/>
            <a:ext cx="3345083" cy="682907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Arial" charset="0"/>
              </a:rPr>
              <a:t>Saída no navegador</a:t>
            </a:r>
          </a:p>
        </p:txBody>
      </p:sp>
    </p:spTree>
    <p:extLst>
      <p:ext uri="{BB962C8B-B14F-4D97-AF65-F5344CB8AC3E}">
        <p14:creationId xmlns:p14="http://schemas.microsoft.com/office/powerpoint/2010/main" val="114251790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1">
            <a:extLst>
              <a:ext uri="{FF2B5EF4-FFF2-40B4-BE49-F238E27FC236}">
                <a16:creationId xmlns:a16="http://schemas.microsoft.com/office/drawing/2014/main" id="{E8713CD7-0929-4840-9D8F-452D1BE35D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66C6D466-B2B7-42F1-BC0B-B8FA42802D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Solução</a:t>
            </a:r>
          </a:p>
        </p:txBody>
      </p:sp>
    </p:spTree>
    <p:extLst>
      <p:ext uri="{BB962C8B-B14F-4D97-AF65-F5344CB8AC3E}">
        <p14:creationId xmlns:p14="http://schemas.microsoft.com/office/powerpoint/2010/main" val="306851351"/>
      </p:ext>
    </p:extLst>
  </p:cSld>
  <p:clrMapOvr>
    <a:masterClrMapping/>
  </p:clrMapOvr>
</p:sld>
</file>

<file path=ppt/theme/theme1.xml><?xml version="1.0" encoding="utf-8"?>
<a:theme xmlns:a="http://schemas.openxmlformats.org/drawingml/2006/main" name="CEETPS_green">
  <a:themeElements>
    <a:clrScheme name="Guilherm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F497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0000FF"/>
      </a:folHlink>
    </a:clrScheme>
    <a:fontScheme name="Eix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38100">
          <a:solidFill>
            <a:srgbClr val="FF0000"/>
          </a:solidFill>
          <a:headEnd type="none" w="med" len="med"/>
          <a:tailEnd type="triangle" w="med" len="med"/>
        </a:ln>
      </a:spPr>
      <a:bodyPr vert="horz" wrap="square" lIns="90000" tIns="46800" rIns="90000" bIns="46800" numCol="1" rtlCol="0" anchor="ctr" anchorCtr="0" compatLnSpc="1">
        <a:prstTxWarp prst="textNoShape">
          <a:avLst/>
        </a:prstTxWarp>
      </a:bodyPr>
      <a:lstStyle>
        <a:defPPr algn="ctr">
          <a:defRPr dirty="0">
            <a:solidFill>
              <a:schemeClr val="tx1"/>
            </a:solidFill>
            <a:latin typeface="Arial" charset="0"/>
          </a:defRPr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 bwMode="auto">
        <a:solidFill>
          <a:schemeClr val="accent1"/>
        </a:solidFill>
        <a:ln w="38100" cap="flat" cmpd="sng" algn="ctr">
          <a:solidFill>
            <a:srgbClr val="FF0000"/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</a:objectDefaults>
  <a:extraClrSchemeLst>
    <a:extraClrScheme>
      <a:clrScheme name="Eixo 1">
        <a:dk1>
          <a:srgbClr val="080808"/>
        </a:dk1>
        <a:lt1>
          <a:srgbClr val="F8F8F8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ADAAAA"/>
        </a:accent3>
        <a:accent4>
          <a:srgbClr val="D4D4D4"/>
        </a:accent4>
        <a:accent5>
          <a:srgbClr val="FFCAAA"/>
        </a:accent5>
        <a:accent6>
          <a:srgbClr val="B92D00"/>
        </a:accent6>
        <a:hlink>
          <a:srgbClr val="CC66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ixo 2">
        <a:dk1>
          <a:srgbClr val="333333"/>
        </a:dk1>
        <a:lt1>
          <a:srgbClr val="F8F8F8"/>
        </a:lt1>
        <a:dk2>
          <a:srgbClr val="800000"/>
        </a:dk2>
        <a:lt2>
          <a:srgbClr val="FFFFFF"/>
        </a:lt2>
        <a:accent1>
          <a:srgbClr val="CC9900"/>
        </a:accent1>
        <a:accent2>
          <a:srgbClr val="666666"/>
        </a:accent2>
        <a:accent3>
          <a:srgbClr val="C0AAAA"/>
        </a:accent3>
        <a:accent4>
          <a:srgbClr val="D4D4D4"/>
        </a:accent4>
        <a:accent5>
          <a:srgbClr val="E2CAAA"/>
        </a:accent5>
        <a:accent6>
          <a:srgbClr val="5C5C5C"/>
        </a:accent6>
        <a:hlink>
          <a:srgbClr val="CC6600"/>
        </a:hlink>
        <a:folHlink>
          <a:srgbClr val="95A58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ixo 3">
        <a:dk1>
          <a:srgbClr val="5F5F5F"/>
        </a:dk1>
        <a:lt1>
          <a:srgbClr val="A4BEE0"/>
        </a:lt1>
        <a:dk2>
          <a:srgbClr val="013253"/>
        </a:dk2>
        <a:lt2>
          <a:srgbClr val="FFFFFF"/>
        </a:lt2>
        <a:accent1>
          <a:srgbClr val="588480"/>
        </a:accent1>
        <a:accent2>
          <a:srgbClr val="6600FF"/>
        </a:accent2>
        <a:accent3>
          <a:srgbClr val="AAADB3"/>
        </a:accent3>
        <a:accent4>
          <a:srgbClr val="8BA2BF"/>
        </a:accent4>
        <a:accent5>
          <a:srgbClr val="B4C2C0"/>
        </a:accent5>
        <a:accent6>
          <a:srgbClr val="5C00E7"/>
        </a:accent6>
        <a:hlink>
          <a:srgbClr val="CCCC00"/>
        </a:hlink>
        <a:folHlink>
          <a:srgbClr val="5F5F5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ixo 4">
        <a:dk1>
          <a:srgbClr val="003300"/>
        </a:dk1>
        <a:lt1>
          <a:srgbClr val="F8F8F8"/>
        </a:lt1>
        <a:dk2>
          <a:srgbClr val="3D4A1C"/>
        </a:dk2>
        <a:lt2>
          <a:srgbClr val="FFFFFF"/>
        </a:lt2>
        <a:accent1>
          <a:srgbClr val="99CC00"/>
        </a:accent1>
        <a:accent2>
          <a:srgbClr val="669900"/>
        </a:accent2>
        <a:accent3>
          <a:srgbClr val="AFB1AB"/>
        </a:accent3>
        <a:accent4>
          <a:srgbClr val="D4D4D4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ixo 5">
        <a:dk1>
          <a:srgbClr val="333333"/>
        </a:dk1>
        <a:lt1>
          <a:srgbClr val="F8F8F8"/>
        </a:lt1>
        <a:dk2>
          <a:srgbClr val="005D8C"/>
        </a:dk2>
        <a:lt2>
          <a:srgbClr val="FFFFFF"/>
        </a:lt2>
        <a:accent1>
          <a:srgbClr val="00CC99"/>
        </a:accent1>
        <a:accent2>
          <a:srgbClr val="0099CC"/>
        </a:accent2>
        <a:accent3>
          <a:srgbClr val="AAB6C5"/>
        </a:accent3>
        <a:accent4>
          <a:srgbClr val="D4D4D4"/>
        </a:accent4>
        <a:accent5>
          <a:srgbClr val="AAE2CA"/>
        </a:accent5>
        <a:accent6>
          <a:srgbClr val="008AB9"/>
        </a:accent6>
        <a:hlink>
          <a:srgbClr val="FFCC00"/>
        </a:hlink>
        <a:folHlink>
          <a:srgbClr val="D8D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ixo 6">
        <a:dk1>
          <a:srgbClr val="000000"/>
        </a:dk1>
        <a:lt1>
          <a:srgbClr val="ECAE00"/>
        </a:lt1>
        <a:dk2>
          <a:srgbClr val="FFFFFF"/>
        </a:dk2>
        <a:lt2>
          <a:srgbClr val="333333"/>
        </a:lt2>
        <a:accent1>
          <a:srgbClr val="CC6600"/>
        </a:accent1>
        <a:accent2>
          <a:srgbClr val="BA6D10"/>
        </a:accent2>
        <a:accent3>
          <a:srgbClr val="F4D3AA"/>
        </a:accent3>
        <a:accent4>
          <a:srgbClr val="000000"/>
        </a:accent4>
        <a:accent5>
          <a:srgbClr val="E2B8AA"/>
        </a:accent5>
        <a:accent6>
          <a:srgbClr val="A8620D"/>
        </a:accent6>
        <a:hlink>
          <a:srgbClr val="666633"/>
        </a:hlink>
        <a:folHlink>
          <a:srgbClr val="8D996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ixo 7">
        <a:dk1>
          <a:srgbClr val="000000"/>
        </a:dk1>
        <a:lt1>
          <a:srgbClr val="FFFFFF"/>
        </a:lt1>
        <a:dk2>
          <a:srgbClr val="372221"/>
        </a:dk2>
        <a:lt2>
          <a:srgbClr val="808080"/>
        </a:lt2>
        <a:accent1>
          <a:srgbClr val="009999"/>
        </a:accent1>
        <a:accent2>
          <a:srgbClr val="9AAC98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8B9B89"/>
        </a:accent6>
        <a:hlink>
          <a:srgbClr val="66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ixo 8">
        <a:dk1>
          <a:srgbClr val="292929"/>
        </a:dk1>
        <a:lt1>
          <a:srgbClr val="FFFFFF"/>
        </a:lt1>
        <a:dk2>
          <a:srgbClr val="000000"/>
        </a:dk2>
        <a:lt2>
          <a:srgbClr val="808080"/>
        </a:lt2>
        <a:accent1>
          <a:srgbClr val="CC9900"/>
        </a:accent1>
        <a:accent2>
          <a:srgbClr val="CCCC99"/>
        </a:accent2>
        <a:accent3>
          <a:srgbClr val="FFFFFF"/>
        </a:accent3>
        <a:accent4>
          <a:srgbClr val="212121"/>
        </a:accent4>
        <a:accent5>
          <a:srgbClr val="E2CAAA"/>
        </a:accent5>
        <a:accent6>
          <a:srgbClr val="B9B98A"/>
        </a:accent6>
        <a:hlink>
          <a:srgbClr val="99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Aulas para 2024" id="{EBF1C0CF-2043-E541-8718-51DFA602023F}" vid="{5750865D-593D-B040-9950-118086454232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CEETPS_green</Template>
  <TotalTime>954</TotalTime>
  <Words>879</Words>
  <Application>Microsoft Macintosh PowerPoint</Application>
  <PresentationFormat>Widescreen</PresentationFormat>
  <Paragraphs>142</Paragraphs>
  <Slides>80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80</vt:i4>
      </vt:variant>
    </vt:vector>
  </HeadingPairs>
  <TitlesOfParts>
    <vt:vector size="86" baseType="lpstr">
      <vt:lpstr>Arial</vt:lpstr>
      <vt:lpstr>Calibri</vt:lpstr>
      <vt:lpstr>Cambria Math</vt:lpstr>
      <vt:lpstr>Times New Roman</vt:lpstr>
      <vt:lpstr>Wingdings</vt:lpstr>
      <vt:lpstr>CEETPS_green</vt:lpstr>
      <vt:lpstr>Aula 02 - Criação de Componentes e Props</vt:lpstr>
      <vt:lpstr>Implementando o projeto Aula02</vt:lpstr>
      <vt:lpstr>Apresentação do PowerPoint</vt:lpstr>
      <vt:lpstr>Apresentação do PowerPoint</vt:lpstr>
      <vt:lpstr>Apresentação do PowerPoint</vt:lpstr>
      <vt:lpstr>Limpando os Arquivos de CSS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Limpando o arquivo App.jsx</vt:lpstr>
      <vt:lpstr>Apresentação do PowerPoint</vt:lpstr>
      <vt:lpstr>Apresentação do PowerPoint</vt:lpstr>
      <vt:lpstr>Reescrevendo o arquivo App.jsx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Adicionando CSS no arquivo App.css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Componente Exemplo1</vt:lpstr>
      <vt:lpstr>Componente Exemplo1</vt:lpstr>
      <vt:lpstr>Componente Exemplo1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Componente Exemplo2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Exercícios</vt:lpstr>
      <vt:lpstr>Apresentação do PowerPoint</vt:lpstr>
      <vt:lpstr>Exercício 1</vt:lpstr>
      <vt:lpstr>Componente: Exercicio1</vt:lpstr>
      <vt:lpstr>Componente: Exercicio1</vt:lpstr>
      <vt:lpstr>Componente: Exercicio1</vt:lpstr>
      <vt:lpstr>Exercício 2</vt:lpstr>
      <vt:lpstr>Componente: Exercicio2</vt:lpstr>
      <vt:lpstr>Componente: Exercicio2</vt:lpstr>
      <vt:lpstr>Apresentação do PowerPoint</vt:lpstr>
      <vt:lpstr>Exercício 3</vt:lpstr>
      <vt:lpstr>Componente: Exercicio3</vt:lpstr>
      <vt:lpstr>Componente: Exercicio3</vt:lpstr>
      <vt:lpstr>Exercício 4</vt:lpstr>
      <vt:lpstr>Componente: Exercicio4</vt:lpstr>
      <vt:lpstr>Componente: Exercicio4</vt:lpstr>
      <vt:lpstr>Exercício 5</vt:lpstr>
      <vt:lpstr>Componente Exercicio5</vt:lpstr>
      <vt:lpstr>Componente Exercicio5</vt:lpstr>
      <vt:lpstr>Exercício 6</vt:lpstr>
      <vt:lpstr>Componente Exercicio6</vt:lpstr>
      <vt:lpstr>Componente Exercicio6</vt:lpstr>
      <vt:lpstr>Solução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Titulo</dc:title>
  <dc:creator>Guilherme Henrique de Souza</dc:creator>
  <cp:lastModifiedBy>Guilherme Henrique de Souza</cp:lastModifiedBy>
  <cp:revision>49</cp:revision>
  <cp:lastPrinted>2024-03-07T14:22:47Z</cp:lastPrinted>
  <dcterms:created xsi:type="dcterms:W3CDTF">2024-02-15T12:37:43Z</dcterms:created>
  <dcterms:modified xsi:type="dcterms:W3CDTF">2026-03-18T14:13:01Z</dcterms:modified>
</cp:coreProperties>
</file>